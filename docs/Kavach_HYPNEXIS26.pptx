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7"/>
    <p:sldId id="265" r:id="rId16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27abeb2-e2d6-8b5d-8c43-ad515931ff97}">
          <p14:sldIdLst>
            <p14:sldId id="256"/>
          </p14:sldIdLst>
        </p14:section>
        <p14:section name="Idea" id="{424f8a36-accb-3397-0aab-0cb2c4908326}">
          <p14:sldIdLst>
            <p14:sldId id="257"/>
          </p14:sldIdLst>
        </p14:section>
        <p14:section name="Approach" id="{31124dfc-e20c-1ed4-b375-d41f266f42fe}">
          <p14:sldIdLst>
            <p14:sldId id="258"/>
            <p14:sldId id="259"/>
          </p14:sldIdLst>
        </p14:section>
        <p14:section name="Viability" id="{91be2ac3-b619-7c48-b042-eb8d0232f76a}">
          <p14:sldIdLst>
            <p14:sldId id="260"/>
          </p14:sldIdLst>
        </p14:section>
        <p14:section name="Impact" id="{29995a27-38ea-056e-f972-2e7a1f9285d6}">
          <p14:sldIdLst>
            <p14:sldId id="261"/>
          </p14:sldIdLst>
        </p14:section>
        <p14:section name="Business" id="{f0599801-3b2b-d390-1af0-755d83c156ec}">
          <p14:sldIdLst>
            <p14:sldId id="262"/>
          </p14:sldIdLst>
        </p14:section>
        <p14:section name="References" id="{15a8586f-328a-e5d8-5f10-90fa2904d36e}">
          <p14:sldIdLst>
            <p14:sldId id="263"/>
          </p14:sldIdLst>
        </p14:section>
        <p14:section name="Close" id="{01f624a0-4e19-fb90-ea64-ac0ab7be0e6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FFFFFF"/>
                </a:solidFill>
              </a:rPr>
              <a:t>Clones flagged FAKE by unseen tool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Flagged FAKE</c:v>
                </c:pt>
              </c:strCache>
            </c:strRef>
          </c:tx>
          <c:spPr>
            <a:solidFill>
              <a:srgbClr val="1F5BFF"/>
            </a:solidFill>
          </c:spPr>
          <c:cat>
            <c:strRef>
              <c:f>Sheet1!$A$2:$A$4</c:f>
              <c:strCache>
                <c:ptCount val="3"/>
                <c:pt idx="0">
                  <c:v>Kokoro</c:v>
                </c:pt>
                <c:pt idx="1">
                  <c:v>RVC</c:v>
                </c:pt>
                <c:pt idx="2">
                  <c:v>SNAC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95.9</c:v>
                </c:pt>
                <c:pt idx="2">
                  <c:v>42.0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Missed</c:v>
                </c:pt>
              </c:strCache>
            </c:strRef>
          </c:tx>
          <c:spPr>
            <a:solidFill>
              <a:srgbClr val="3A4A7A"/>
            </a:solidFill>
          </c:spPr>
          <c:cat>
            <c:strRef>
              <c:f>Sheet1!$A$2:$A$4</c:f>
              <c:strCache>
                <c:ptCount val="3"/>
                <c:pt idx="0">
                  <c:v>Kokoro</c:v>
                </c:pt>
                <c:pt idx="1">
                  <c:v>RVC</c:v>
                </c:pt>
                <c:pt idx="2">
                  <c:v>SNAC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4.1</c:v>
                </c:pt>
                <c:pt idx="2">
                  <c:v>58.0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F80"/>
            </a:solidFill>
          </a:ln>
        </c:spPr>
        <c:txPr>
          <a:bodyPr/>
          <a:lstStyle/>
          <a:p>
            <a:pPr>
              <a:defRPr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1E337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CC4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CC4FF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9CC4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FFFFFF"/>
                </a:solidFill>
              </a:rPr>
              <a:t>R1: EER (%) per channel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EER %</c:v>
                </c:pt>
              </c:strCache>
            </c:strRef>
          </c:tx>
          <c:spPr>
            <a:solidFill>
              <a:srgbClr val="1F5BFF"/>
            </a:solidFill>
          </c:spP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8 kHz</c:v>
                </c:pt>
                <c:pt idx="2">
                  <c:v>AMR-NB</c:v>
                </c:pt>
                <c:pt idx="3">
                  <c:v>Opus 12k</c:v>
                </c:pt>
                <c:pt idx="4">
                  <c:v>Noise 10 dB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1.4</c:v>
                </c:pt>
                <c:pt idx="2">
                  <c:v>1.8</c:v>
                </c:pt>
                <c:pt idx="3">
                  <c:v>2.1</c:v>
                </c:pt>
                <c:pt idx="4">
                  <c:v>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F80"/>
            </a:solidFill>
          </a:ln>
        </c:spPr>
        <c:txPr>
          <a:bodyPr/>
          <a:lstStyle/>
          <a:p>
            <a:pPr>
              <a:defRPr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5"/>
          <c:min val="0.0"/>
        </c:scaling>
        <c:delete val="0"/>
        <c:axPos val="l"/>
        <c:majorGridlines>
          <c:spPr>
            <a:ln>
              <a:solidFill>
                <a:srgbClr val="1E337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CC4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9CC4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HYPNEXIS_TITLE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HYPNEXIS_CONTENT-image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HYPNEXIS_SECTIO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105163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365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058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MANIPAL UNIVERSITY JAIPUR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</a:t>
            </a:r>
            <a:endParaRPr lang="en-US" sz="1200" dirty="0"/>
          </a:p>
        </p:txBody>
      </p:sp>
      <p:pic>
        <p:nvPicPr>
          <p:cNvPr id="4" name="Image 0" descr="HYPNEXIS 26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120640" cy="23302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•  24–25 OCTOBER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INNOVATE / CREATE</a:t>
            </a:r>
            <a:endParaRPr lang="en-US" sz="1200" dirty="0"/>
          </a:p>
        </p:txBody>
      </p:sp>
      <p:sp>
        <p:nvSpPr>
          <p:cNvPr id="7" name="Team details card"/>
          <p:cNvSpPr/>
          <p:nvPr/>
        </p:nvSpPr>
        <p:spPr>
          <a:xfrm>
            <a:off x="6949440" y="13716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801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2494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496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HXXXX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191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886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Voice-Clone Detection for Phone Scams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4334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DOMAIN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45811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 ·  Cyber Safety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5029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5276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hypnexismuj.com   |   @hypnexis.muj   |   hypnexis2026@muj.manipal.edu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KAVACH: CATCHING CLONED VOICES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Problem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s of audio is enough.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reel, a WhatsApp voice note or a short "wrong number" call gives scammers a voice to copy.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 clone it in minutes.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"Papa, accident ho gaya, jaldi paise bhejo" arrives in the real person's voice.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trust the voice.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give no signal that a voice is synthetic, and instant transfers leave no time to check.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fail in practice.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learn one cloner's quirks or dataset shortcuts like silence length, and break on new tools, phone lines and short clips.</a:t>
            </a:r>
            <a:endParaRPr lang="en-US" sz="1400" dirty="0"/>
          </a:p>
        </p:txBody>
      </p:sp>
      <p:sp>
        <p:nvSpPr>
          <p:cNvPr id="7" name="Solution card"/>
          <p:cNvSpPr/>
          <p:nvPr/>
        </p:nvSpPr>
        <p:spPr>
          <a:xfrm>
            <a:off x="6245352" y="16916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Solution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9" name="Solution body"/>
          <p:cNvSpPr txBox="1"/>
          <p:nvPr/>
        </p:nvSpPr>
        <p:spPr>
          <a:xfrm>
            <a:off x="6519672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to 2–10 s of speech and answers REAL, NOT SURE or FAKE in under a second.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vocoder fingerprint,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tool: every cloner ends in a vocoder, so it keeps working on cloners it has never seen.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calls: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codecs, noise, live streaming every 0.5 s and the exact faked seconds inside a call.</a:t>
            </a:r>
            <a:endParaRPr lang="en-US" sz="1400" dirty="0"/>
          </a:p>
        </p:txBody>
      </p:sp>
      <p:sp>
        <p:nvSpPr>
          <p:cNvPr id="10" name="Visual card"/>
          <p:cNvSpPr/>
          <p:nvPr/>
        </p:nvSpPr>
        <p:spPr>
          <a:xfrm>
            <a:off x="6245352" y="46177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DA3FF"/>
                </a:solidFill>
                <a:latin typeface="Arial"/>
              </a:rPr>
              <a:t>HOW THE SCAM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66360"/>
            <a:ext cx="987552" cy="68580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Collect</a:t>
            </a:r>
          </a:p>
          <a:p>
            <a:pPr algn="ctr"/>
            <a:r>
              <a:rPr sz="1100" b="0">
                <a:solidFill>
                  <a:srgbClr val="9CC4FF"/>
                </a:solidFill>
                <a:latin typeface="Calibri"/>
              </a:rPr>
              <a:t>voice note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737360" y="5413248"/>
            <a:ext cx="228600" cy="182880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993391" y="5166360"/>
            <a:ext cx="987552" cy="68580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Clone</a:t>
            </a:r>
          </a:p>
          <a:p>
            <a:pPr algn="ctr"/>
            <a:r>
              <a:rPr sz="1100" b="0">
                <a:solidFill>
                  <a:srgbClr val="9CC4FF"/>
                </a:solidFill>
                <a:latin typeface="Calibri"/>
              </a:rPr>
              <a:t>minutes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999232" y="5413248"/>
            <a:ext cx="228600" cy="182880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55263" y="5166360"/>
            <a:ext cx="987552" cy="68580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Call</a:t>
            </a:r>
          </a:p>
          <a:p>
            <a:pPr algn="ctr"/>
            <a:r>
              <a:rPr sz="1100" b="0">
                <a:solidFill>
                  <a:srgbClr val="9CC4FF"/>
                </a:solidFill>
                <a:latin typeface="Calibri"/>
              </a:rPr>
              <a:t>panic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261104" y="5413248"/>
            <a:ext cx="228600" cy="182880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17136" y="5166360"/>
            <a:ext cx="987552" cy="68580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Pay</a:t>
            </a:r>
          </a:p>
          <a:p>
            <a:pPr algn="ctr"/>
            <a:r>
              <a:rPr sz="1100" b="0">
                <a:solidFill>
                  <a:srgbClr val="9CC4FF"/>
                </a:solidFill>
                <a:latin typeface="Calibri"/>
              </a:rPr>
              <a:t>UPI / IMPS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484632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600" b="1">
                <a:solidFill>
                  <a:srgbClr val="22C55E"/>
                </a:solidFill>
                <a:latin typeface="Arial"/>
              </a:rPr>
              <a:t>REAL</a:t>
            </a:r>
          </a:p>
          <a:p>
            <a:pPr algn="ctr"/>
            <a:r>
              <a:rPr sz="1400" b="0">
                <a:solidFill>
                  <a:srgbClr val="9CC4FF"/>
                </a:solidFill>
                <a:latin typeface="Arial"/>
              </a:rPr>
              <a:t>real person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93024" y="484632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600" b="1">
                <a:solidFill>
                  <a:srgbClr val="F59E0B"/>
                </a:solidFill>
                <a:latin typeface="Arial"/>
              </a:rPr>
              <a:t>NOT SURE</a:t>
            </a:r>
          </a:p>
          <a:p>
            <a:pPr algn="ctr"/>
            <a:r>
              <a:rPr sz="1400" b="0">
                <a:solidFill>
                  <a:srgbClr val="9CC4FF"/>
                </a:solidFill>
                <a:latin typeface="Arial"/>
              </a:rPr>
              <a:t>verify another way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12096" y="484632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600" b="1">
                <a:solidFill>
                  <a:srgbClr val="EF4444"/>
                </a:solidFill>
                <a:latin typeface="Arial"/>
              </a:rPr>
              <a:t>FAKE</a:t>
            </a:r>
          </a:p>
          <a:p>
            <a:pPr algn="ctr"/>
            <a:r>
              <a:rPr sz="1400" b="0">
                <a:solidFill>
                  <a:srgbClr val="9CC4FF"/>
                </a:solidFill>
                <a:latin typeface="Arial"/>
              </a:rPr>
              <a:t>hang up, call 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Architecture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Arch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7" name="Tech card"/>
          <p:cNvSpPr/>
          <p:nvPr/>
        </p:nvSpPr>
        <p:spPr>
          <a:xfrm>
            <a:off x="6245352" y="16916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ch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500" dirty="0"/>
          </a:p>
        </p:txBody>
      </p:sp>
      <p:sp>
        <p:nvSpPr>
          <p:cNvPr id="9" name="Tech body"/>
          <p:cNvSpPr txBox="1"/>
          <p:nvPr/>
        </p:nvSpPr>
        <p:spPr>
          <a:xfrm>
            <a:off x="6519672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XLS-R 300M + layer-mix MLP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In-the-Wild, LibriSpeech, edge-tts + Kokoro TTS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WebSocket, ffmpeg, Demucs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4050 laptop GPU, or CPU</a:t>
            </a:r>
            <a:endParaRPr lang="en-US" sz="1400" dirty="0"/>
          </a:p>
        </p:txBody>
      </p:sp>
      <p:sp>
        <p:nvSpPr>
          <p:cNvPr id="10" name="Unique card"/>
          <p:cNvSpPr/>
          <p:nvPr/>
        </p:nvSpPr>
        <p:spPr>
          <a:xfrm>
            <a:off x="6245352" y="4023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Unique head"/>
          <p:cNvSpPr txBox="1"/>
          <p:nvPr/>
        </p:nvSpPr>
        <p:spPr>
          <a:xfrm>
            <a:off x="6519672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POINTS</a:t>
            </a:r>
            <a:endParaRPr lang="en-US" sz="1500" dirty="0"/>
          </a:p>
        </p:txBody>
      </p:sp>
      <p:sp>
        <p:nvSpPr>
          <p:cNvPr id="12" name="Unique body"/>
          <p:cNvSpPr txBox="1"/>
          <p:nvPr/>
        </p:nvSpPr>
        <p:spPr>
          <a:xfrm>
            <a:off x="6519672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head is trained, so it cannot overfit one cloner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Shortcut-proof: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and loudness removed; a shortcut-only model scores 47% EER (coin toss)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output: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instead of a guess; partial-fake localisation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31520" y="2286000"/>
            <a:ext cx="4937760" cy="50292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234086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  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340864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trim silence, equal loudness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907792"/>
            <a:ext cx="4937760" cy="50292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296265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  Phone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296265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8 kHz line, AMR / Opus codec, noise (training)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529584"/>
            <a:ext cx="4937760" cy="50292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58444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  Ears: XLS-R 300M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3584448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frozen, pretrained on 436k h, 128 languages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51376"/>
            <a:ext cx="4937760" cy="50292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2062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  Mixer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20624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learned weights over all 25 layers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773168"/>
            <a:ext cx="4937760" cy="50292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82803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  Judge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4828032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small MLP → score 0–100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394960"/>
            <a:ext cx="4937760" cy="502920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44982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6  Verdict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5449824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REAL / NOT SURE / FAKE + 0.5 s timeline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ON UNSEEN DATA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References card"/>
          <p:cNvSpPr/>
          <p:nvPr/>
        </p:nvSpPr>
        <p:spPr>
          <a:xfrm>
            <a:off x="457200" y="1691640"/>
            <a:ext cx="11274552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Ref head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ONLY ON SPEAKERS AND CLONING TOOLS IT NEVER SAW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31520" y="2331720"/>
          <a:ext cx="6035040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822960"/>
                <a:gridCol w="128016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CC4FF"/>
                          </a:solidFill>
                          <a:latin typeface="Calibri"/>
                        </a:rPr>
                        <a:t>Test (never in training)</a:t>
                      </a:r>
                    </a:p>
                  </a:txBody>
                  <a:tcPr marL="73152" marR="73152" marT="18288" marB="18288" anchor="ctr">
                    <a:solidFill>
                      <a:srgbClr val="142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CC4FF"/>
                          </a:solidFill>
                          <a:latin typeface="Calibri"/>
                        </a:rPr>
                        <a:t>EER</a:t>
                      </a:r>
                    </a:p>
                  </a:txBody>
                  <a:tcPr marL="73152" marR="73152" marT="18288" marB="18288" anchor="ctr">
                    <a:solidFill>
                      <a:srgbClr val="142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CC4FF"/>
                          </a:solidFill>
                          <a:latin typeface="Calibri"/>
                        </a:rPr>
                        <a:t>Flagged FAKE</a:t>
                      </a:r>
                    </a:p>
                  </a:txBody>
                  <a:tcPr marL="73152" marR="73152" marT="18288" marB="18288" anchor="ctr">
                    <a:solidFill>
                      <a:srgbClr val="142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CC4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142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In-the-Wild, unseen speakers, 4 s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97.1%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4026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Same, 2 s clips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96.8%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4026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Same, phone-line audio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95.0%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4026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Unseen modern TTS (MS neural, Kokoro)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98.0%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Same, replayed speaker → mic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93.1%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Unseen cloner: RVC voice conversion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95.9%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3152" marR="73152" marT="18288" marB="18288" anchor="ctr">
                    <a:solidFill>
                      <a:srgbClr val="0F22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Unseen cloner: SNAC neural codec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</a:rPr>
                        <a:t>8.7%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42.0%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18288" marB="18288" anchor="ctr">
                    <a:solidFill>
                      <a:srgbClr val="0B1A4A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31520" y="5486400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C4FF"/>
                </a:solidFill>
                <a:latin typeface="Calibri"/>
              </a:rPr>
              <a:t>EER = equal error rate (lower is better, 50% = coin toss). Every number comes from scripts in the repo (runs/*.json).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7040880" y="2240280"/>
          <a:ext cx="44805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040880" y="557784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C4FF"/>
                </a:solidFill>
                <a:latin typeface="Calibri"/>
              </a:rPr>
              <a:t>Weak spot we report: SNAC codec clones (vocoder-only fingerprint).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REAL CALL CONDITIONS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References card"/>
          <p:cNvSpPr/>
          <p:nvPr/>
        </p:nvSpPr>
        <p:spPr>
          <a:xfrm>
            <a:off x="457200" y="1691640"/>
            <a:ext cx="11274552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Ref head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CODECS &amp; NOISE  ·  R2 PARTIAL FAKES  ·  R3 LIVE STREAM  ·  R4 PHASE 1 HOLDS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85800" y="2240280"/>
          <a:ext cx="56692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31520" y="553212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CC4FF"/>
                </a:solidFill>
                <a:latin typeface="Calibri"/>
              </a:rPr>
              <a:t>Worst case noise = 1.94× clean EER (target ≤ 2.5×). Real ffmpeg encoders.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2240280"/>
            <a:ext cx="4846320" cy="1115568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4231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Arial"/>
              </a:rPr>
              <a:t>80.5%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3682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R2  partial-fake F1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679192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C4FF"/>
                </a:solidFill>
                <a:latin typeface="Calibri"/>
              </a:rPr>
              <a:t>faked 1–3 s found at 0.5 s resolution</a:t>
            </a:r>
          </a:p>
          <a:p>
            <a:pPr algn="l"/>
            <a:r>
              <a:rPr sz="1100" b="0" i="0">
                <a:solidFill>
                  <a:srgbClr val="9CC4FF"/>
                </a:solidFill>
                <a:latin typeface="Calibri"/>
              </a:rPr>
              <a:t>precision 79.9% · recall 81.0%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502152"/>
            <a:ext cx="4846320" cy="1115568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685032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Arial"/>
              </a:rPr>
              <a:t>500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6301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R3  live call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941064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C4FF"/>
                </a:solidFill>
                <a:latin typeface="Calibri"/>
              </a:rPr>
              <a:t>WebSocket stream, 25.7 ms median compute</a:t>
            </a:r>
          </a:p>
          <a:p>
            <a:pPr algn="l"/>
            <a:r>
              <a:rPr sz="1100" b="0" i="0">
                <a:solidFill>
                  <a:srgbClr val="9CC4FF"/>
                </a:solidFill>
                <a:latin typeface="Calibri"/>
              </a:rPr>
              <a:t>p95 31.4 ms per update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764024"/>
            <a:ext cx="4846320" cy="1115568"/>
          </a:xfrm>
          <a:prstGeom prst="roundRect">
            <a:avLst>
              <a:gd name="adj" fmla="val 12000"/>
            </a:avLst>
          </a:prstGeom>
          <a:solidFill>
            <a:srgbClr val="0F225C"/>
          </a:solidFill>
          <a:ln w="12700">
            <a:solidFill>
              <a:srgbClr val="2A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946904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Arial"/>
              </a:rPr>
              <a:t>≤ 0.3 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892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R4  Phase 1 EER change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202936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C4FF"/>
                </a:solidFill>
                <a:latin typeface="Calibri"/>
              </a:rPr>
              <a:t>all Phase 1 tests within 2 points</a:t>
            </a:r>
          </a:p>
          <a:p>
            <a:pPr algn="l"/>
            <a:r>
              <a:rPr sz="1100" b="0" i="0">
                <a:solidFill>
                  <a:srgbClr val="9CC4FF"/>
                </a:solidFill>
                <a:latin typeface="Calibri"/>
              </a:rPr>
              <a:t>unseen speakers 2.3% → 2.0%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DESIGN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UI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I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6" name="UI body"/>
          <p:cNvSpPr txBox="1"/>
          <p:nvPr/>
        </p:nvSpPr>
        <p:spPr>
          <a:xfrm>
            <a:off x="73152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verdict dial in green, amber or 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record or live-call mode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marks the faked seconds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type, colour plus words</a:t>
            </a:r>
            <a:endParaRPr lang="en-US" sz="1400" dirty="0"/>
          </a:p>
        </p:txBody>
      </p:sp>
      <p:sp>
        <p:nvSpPr>
          <p:cNvPr id="7" name="Flow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Flow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500" dirty="0"/>
          </a:p>
        </p:txBody>
      </p:sp>
      <p:sp>
        <p:nvSpPr>
          <p:cNvPr id="9" name="Flow dot 1"/>
          <p:cNvSpPr/>
          <p:nvPr/>
        </p:nvSpPr>
        <p:spPr>
          <a:xfrm>
            <a:off x="4544568" y="2331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record a clip, or start a live call</a:t>
            </a:r>
            <a:endParaRPr lang="en-US" sz="1400" dirty="0"/>
          </a:p>
        </p:txBody>
      </p:sp>
      <p:sp>
        <p:nvSpPr>
          <p:cNvPr id="12" name="Flow dot 2"/>
          <p:cNvSpPr/>
          <p:nvPr/>
        </p:nvSpPr>
        <p:spPr>
          <a:xfrm>
            <a:off x="4544568" y="3520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updates every 0.5 s; faked seconds turn red</a:t>
            </a:r>
            <a:endParaRPr lang="en-US" sz="1400" dirty="0"/>
          </a:p>
        </p:txBody>
      </p:sp>
      <p:sp>
        <p:nvSpPr>
          <p:cNvPr id="15" name="Flow dot 3"/>
          <p:cNvSpPr/>
          <p:nvPr/>
        </p:nvSpPr>
        <p:spPr>
          <a:xfrm>
            <a:off x="4544568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456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663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advice: "Hang up, call back on a saved number"</a:t>
            </a:r>
            <a:endParaRPr lang="en-US" sz="1400" dirty="0"/>
          </a:p>
        </p:txBody>
      </p:sp>
      <p:sp>
        <p:nvSpPr>
          <p:cNvPr id="18" name="Goal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9" name="Goal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</a:t>
            </a:r>
            <a:endParaRPr lang="en-US" sz="1500" dirty="0"/>
          </a:p>
        </p:txBody>
      </p:sp>
      <p:sp>
        <p:nvSpPr>
          <p:cNvPr id="20" name="Goal body"/>
          <p:cNvSpPr txBox="1"/>
          <p:nvPr/>
        </p:nvSpPr>
        <p:spPr>
          <a:xfrm>
            <a:off x="8348472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with no tech background should know in one second whether to trust the voice, and what to do next.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ux_d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794760"/>
            <a:ext cx="2450592" cy="2194560"/>
          </a:xfrm>
          <a:prstGeom prst="rect">
            <a:avLst/>
          </a:prstGeom>
        </p:spPr>
      </p:pic>
      <p:pic>
        <p:nvPicPr>
          <p:cNvPr id="27" name="Picture 26" descr="ux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3685849"/>
            <a:ext cx="3108960" cy="20923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Technical Feasibility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Technical Feasibility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6" name="Technical Feasibility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upload, record and live-call modes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318 ms per clip, 0 errors in 60 concurrent requests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unit / API / streaming / security tests + 13/13 browser end-to-end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backbone or head without touching the app</a:t>
            </a:r>
            <a:endParaRPr lang="en-US" sz="1400" dirty="0"/>
          </a:p>
        </p:txBody>
      </p:sp>
      <p:sp>
        <p:nvSpPr>
          <p:cNvPr id="7" name="Economic Feasibility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Economic Feasibility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9" name="Economic Feasibility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cost: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in licences, open-source stack, one laptop GPU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backbone, one GPU serves many calls; CPU fallback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guard: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~₹1,300 Bluetooth device for parents' phones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API for banks, telecom licence</a:t>
            </a:r>
            <a:endParaRPr lang="en-US" sz="1400" dirty="0"/>
          </a:p>
        </p:txBody>
      </p:sp>
      <p:sp>
        <p:nvSpPr>
          <p:cNvPr id="10" name="Operational Viability card"/>
          <p:cNvSpPr/>
          <p:nvPr/>
        </p:nvSpPr>
        <p:spPr>
          <a:xfrm>
            <a:off x="8083296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Operational Viability head"/>
          <p:cNvSpPr txBox="1"/>
          <p:nvPr/>
        </p:nvSpPr>
        <p:spPr>
          <a:xfrm>
            <a:off x="8357616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VIABILITY</a:t>
            </a:r>
            <a:endParaRPr lang="en-US" sz="1500" dirty="0"/>
          </a:p>
        </p:txBody>
      </p:sp>
      <p:sp>
        <p:nvSpPr>
          <p:cNvPr id="12" name="Operational Viability body"/>
          <p:cNvSpPr txBox="1"/>
          <p:nvPr/>
        </p:nvSpPr>
        <p:spPr>
          <a:xfrm>
            <a:off x="8357616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API, browser app, later phone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cloners. Fix: retrain head only, held-out tool tests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false alarms (~19%). Fix: NOT SURE band + noise shield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 memory only, never stored or logged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31520" y="480060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7375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Arial"/>
              </a:rPr>
              <a:t>318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223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median time to a verdict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44568" y="480060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487375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Arial"/>
              </a:rPr>
              <a:t>₹0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54223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licence cost, open-source stack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7616" y="480060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6" y="487375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Arial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4223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audio files stored or logged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Social Impact card"/>
          <p:cNvSpPr/>
          <p:nvPr/>
        </p:nvSpPr>
        <p:spPr>
          <a:xfrm>
            <a:off x="457200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Social Impact badge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ocial Impact head"/>
          <p:cNvSpPr txBox="1"/>
          <p:nvPr/>
        </p:nvSpPr>
        <p:spPr>
          <a:xfrm>
            <a:off x="15544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1500" dirty="0"/>
          </a:p>
        </p:txBody>
      </p:sp>
      <p:sp>
        <p:nvSpPr>
          <p:cNvPr id="8" name="Social Impact body"/>
          <p:cNvSpPr txBox="1"/>
          <p:nvPr/>
        </p:nvSpPr>
        <p:spPr>
          <a:xfrm>
            <a:off x="1554480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families and elderly people from "emergency" voice scams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Indian phone audio, Hindi and Hinglish voices</a:t>
            </a:r>
            <a:endParaRPr lang="en-US" sz="1400" dirty="0"/>
          </a:p>
        </p:txBody>
      </p:sp>
      <p:sp>
        <p:nvSpPr>
          <p:cNvPr id="9" name="Environmental Impact card"/>
          <p:cNvSpPr/>
          <p:nvPr/>
        </p:nvSpPr>
        <p:spPr>
          <a:xfrm>
            <a:off x="6099048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0" name="Environmental Impact badge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Environmental Impact head"/>
          <p:cNvSpPr txBox="1"/>
          <p:nvPr/>
        </p:nvSpPr>
        <p:spPr>
          <a:xfrm>
            <a:off x="7196328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EFFICIENCY</a:t>
            </a:r>
            <a:endParaRPr lang="en-US" sz="1500" dirty="0"/>
          </a:p>
        </p:txBody>
      </p:sp>
      <p:sp>
        <p:nvSpPr>
          <p:cNvPr id="13" name="Environmental Impact body"/>
          <p:cNvSpPr txBox="1"/>
          <p:nvPr/>
        </p:nvSpPr>
        <p:spPr>
          <a:xfrm>
            <a:off x="7196328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head is trained: low compute, no huge training runs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locally; no audio sent to or stored in the cloud</a:t>
            </a:r>
            <a:endParaRPr lang="en-US" sz="1400" dirty="0"/>
          </a:p>
        </p:txBody>
      </p:sp>
      <p:sp>
        <p:nvSpPr>
          <p:cNvPr id="14" name="Technical Impact card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5" name="Technical Impact badge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chnical Impact head"/>
          <p:cNvSpPr txBox="1"/>
          <p:nvPr/>
        </p:nvSpPr>
        <p:spPr>
          <a:xfrm>
            <a:off x="155448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IMPACT</a:t>
            </a:r>
            <a:endParaRPr lang="en-US" sz="1500" dirty="0"/>
          </a:p>
        </p:txBody>
      </p:sp>
      <p:sp>
        <p:nvSpPr>
          <p:cNvPr id="18" name="Technical Impact body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to unseen cloners via frozen speech foundation model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Localises the faked seconds inside a real call (F1 80.5%)</a:t>
            </a:r>
            <a:endParaRPr lang="en-US" sz="1400" dirty="0"/>
          </a:p>
        </p:txBody>
      </p:sp>
      <p:sp>
        <p:nvSpPr>
          <p:cNvPr id="19" name="Educational Impact card"/>
          <p:cNvSpPr/>
          <p:nvPr/>
        </p:nvSpPr>
        <p:spPr>
          <a:xfrm>
            <a:off x="6099048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0" name="Educational Impact badge"/>
          <p:cNvSpPr/>
          <p:nvPr/>
        </p:nvSpPr>
        <p:spPr>
          <a:xfrm>
            <a:off x="6373368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Educational Impact head"/>
          <p:cNvSpPr txBox="1"/>
          <p:nvPr/>
        </p:nvSpPr>
        <p:spPr>
          <a:xfrm>
            <a:off x="7196328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IMPACT</a:t>
            </a:r>
            <a:endParaRPr lang="en-US" sz="1500" dirty="0"/>
          </a:p>
        </p:txBody>
      </p:sp>
      <p:sp>
        <p:nvSpPr>
          <p:cNvPr id="23" name="Educational Impact body"/>
          <p:cNvSpPr txBox="1"/>
          <p:nvPr/>
        </p:nvSpPr>
        <p:spPr>
          <a:xfrm>
            <a:off x="7196328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people that a familiar voice is no longer proof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reproducible results with weak spots reported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SUSTAINABILITY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Users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sers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6" name="Users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elderly on phone calls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call centres: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callers who claim to be customers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Telecoms: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suspicious calls on the network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fintech, cyber-cell awareness drives</a:t>
            </a:r>
            <a:endParaRPr lang="en-US" sz="1400" dirty="0"/>
          </a:p>
        </p:txBody>
      </p:sp>
      <p:sp>
        <p:nvSpPr>
          <p:cNvPr id="7" name="Revenue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Rev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COST MODEL</a:t>
            </a:r>
            <a:endParaRPr lang="en-US" sz="1500" dirty="0"/>
          </a:p>
        </p:txBody>
      </p:sp>
      <p:sp>
        <p:nvSpPr>
          <p:cNvPr id="9" name="Rev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 app + campus / cyber-cell demo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verified call or monthly SaaS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app; paid Bluetooth guard device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hosting; head retrains are cheap</a:t>
            </a:r>
            <a:endParaRPr lang="en-US" sz="1400" dirty="0"/>
          </a:p>
        </p:txBody>
      </p:sp>
      <p:sp>
        <p:nvSpPr>
          <p:cNvPr id="10" name="Sustain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Sus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2" name="Sus body"/>
          <p:cNvSpPr txBox="1"/>
          <p:nvPr/>
        </p:nvSpPr>
        <p:spPr>
          <a:xfrm>
            <a:off x="8348472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telecoms, cyber police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Indian languages, scam-phrase detection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up: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new cloner as a held-out 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benchmark </a:t>
            </a:r>
            <a:r>
              <a:rPr lang="en-US" sz="13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Indian-language clone calls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31520" y="480060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7375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Arial"/>
              </a:rPr>
              <a:t>3 segments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223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families · banks · telecoms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44568" y="480060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487375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Arial"/>
              </a:rPr>
              <a:t>Free + B2B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54223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free for families, paid per call for business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7616" y="4800600"/>
            <a:ext cx="3108960" cy="1097280"/>
          </a:xfrm>
          <a:prstGeom prst="roundRect">
            <a:avLst>
              <a:gd name="adj" fmla="val 12000"/>
            </a:avLst>
          </a:prstGeom>
          <a:solidFill>
            <a:srgbClr val="14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6" y="487375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Arial"/>
              </a:rPr>
              <a:t>Head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54223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C4FF"/>
                </a:solidFill>
                <a:latin typeface="Calibri"/>
              </a:rPr>
              <a:t>cheap retrain when new cloners appear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</a:t>
            </a:r>
            <a:endParaRPr lang="en-US" sz="1200" dirty="0"/>
          </a:p>
        </p:txBody>
      </p:sp>
      <p:sp>
        <p:nvSpPr>
          <p:cNvPr id="4" name="References card"/>
          <p:cNvSpPr/>
          <p:nvPr/>
        </p:nvSpPr>
        <p:spPr>
          <a:xfrm>
            <a:off x="457200" y="1691640"/>
            <a:ext cx="11274552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Ref head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 &amp; RESEARCH SOURCES</a:t>
            </a:r>
            <a:endParaRPr lang="en-US" sz="1500" dirty="0"/>
          </a:p>
        </p:txBody>
      </p:sp>
      <p:sp>
        <p:nvSpPr>
          <p:cNvPr id="6" name="Ref body"/>
          <p:cNvSpPr txBox="1"/>
          <p:nvPr/>
        </p:nvSpPr>
        <p:spPr>
          <a:xfrm>
            <a:off x="731520" y="237744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XLS-R: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Babu et al., "XLS-R: Self-supervised cross-lingual speech representation learning at scale", arXiv:2111.09296, 2021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In-the-Wild: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Müller et al., "Does Audio Deepfake Detection Generalize?", Interspeech 2022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+ augmentation: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et al., "Automatic speaker verification spoofing and deepfake detection using wav2vec 2.0 and data augmentation", Odyssey 2022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ASVspoof: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al., "ASVspoof 2019: A large-scale public database of synthesized, converted and replayed speech", 2020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LibriSpeech: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Panayotov et al., ICASSP 2015 (real speech)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Cloners tested: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Kokoro TTS, Microsoft edge-tts, RVC, SNAC (Siuzdak 2024), F5-TTS (Chen et al. 2024)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b="1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40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Hugging Face Transformers, FastAPI, ffmpeg, Demucs (Défossez et al.)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PNEXIS 26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754880" cy="21637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297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Kavach  |  HXXXX  |  AI-01 Voice-Clone Detection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AN / IMPACT</a:t>
            </a:r>
            <a:endParaRPr lang="en-US" sz="1300" dirty="0"/>
          </a:p>
        </p:txBody>
      </p:sp>
      <p:sp>
        <p:nvSpPr>
          <p:cNvPr id="6" name="TextBox 5"/>
          <p:cNvSpPr txBox="1"/>
          <p:nvPr/>
        </p:nvSpPr>
        <p:spPr>
          <a:xfrm>
            <a:off x="6766560" y="23774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</a:rPr>
              <a:t>KAVACH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324612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9CC4FF"/>
                </a:solidFill>
                <a:latin typeface="Calibri"/>
              </a:rPr>
              <a:t>Catching AI-cloned voices</a:t>
            </a:r>
          </a:p>
          <a:p>
            <a:pPr algn="l"/>
            <a:r>
              <a:rPr sz="2200" b="0" i="0">
                <a:solidFill>
                  <a:srgbClr val="9CC4FF"/>
                </a:solidFill>
                <a:latin typeface="Calibri"/>
              </a:rPr>
              <a:t>before the money moves.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4343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DA3FF"/>
                </a:solidFill>
                <a:latin typeface="Arial"/>
              </a:rPr>
              <a:t>REAL  ·  NOT SURE  ·  FAKE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pnexis">
  <a:themeElements>
    <a:clrScheme name="Hypnexis">
      <a:dk1>
        <a:srgbClr val="040A20"/>
      </a:dk1>
      <a:lt1>
        <a:srgbClr val="FFFFFF"/>
      </a:lt1>
      <a:dk2>
        <a:srgbClr val="0B1A4A"/>
      </a:dk2>
      <a:lt2>
        <a:srgbClr val="CFE0FF"/>
      </a:lt2>
      <a:accent1>
        <a:srgbClr val="1E5BFF"/>
      </a:accent1>
      <a:accent2>
        <a:srgbClr val="4DA3FF"/>
      </a:accent2>
      <a:accent3>
        <a:srgbClr val="0A2A8F"/>
      </a:accent3>
      <a:accent4>
        <a:srgbClr val="9CC4FF"/>
      </a:accent4>
      <a:accent5>
        <a:srgbClr val="6C8CFF"/>
      </a:accent5>
      <a:accent6>
        <a:srgbClr val="00C2FF"/>
      </a:accent6>
      <a:hlink>
        <a:srgbClr val="4DA3FF"/>
      </a:hlink>
      <a:folHlink>
        <a:srgbClr val="9CC4FF"/>
      </a:folHlink>
    </a:clrScheme>
    <a:fontScheme name="Hypnex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HYPNEXIS 26 - Official Idea Presentation Template</dc:title>
  <dc:subject>PptxGenJS Presentation</dc:subject>
  <dc:creator>PptxGenJS</dc:creator>
  <cp:lastModifiedBy>PptxGenJS</cp:lastModifiedBy>
  <cp:revision>1</cp:revision>
  <dcterms:created xsi:type="dcterms:W3CDTF">2026-10-24T10:35:26Z</dcterms:created>
  <dcterms:modified xsi:type="dcterms:W3CDTF">2026-10-24T10:35:26Z</dcterms:modified>
</cp:coreProperties>
</file>