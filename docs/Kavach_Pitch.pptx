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Flagged FAKE</c:v>
                </c:pt>
              </c:strCache>
            </c:strRef>
          </c:tx>
          <c:spPr>
            <a:solidFill>
              <a:srgbClr val="C0281D"/>
            </a:solidFill>
            <a:effectLst/>
          </c:spPr>
          <c:invertIfNegative val="0"/>
          <c:dLbls>
            <c:numFmt formatCode="0.0" sourceLinked="0"/>
            <c:txPr>
              <a:bodyPr/>
              <a:lstStyle/>
              <a:p>
                <a:pPr>
                  <a:defRPr b="0" i="0" strike="noStrike" sz="1200" u="none">
                    <a:solidFill>
                      <a:srgbClr val="1E2A33"/>
                    </a:solidFill>
                    <a:latin typeface="Arial"/>
                  </a:defRPr>
                </a:pPr>
              </a:p>
            </c:txPr>
            <c:showLegendKey val="0"/>
            <c:showVal val="1"/>
            <c:showCatName val="0"/>
            <c:showSerName val="0"/>
            <c:showPercent val="0"/>
            <c:showBubbleSize val="0"/>
            <c:showLeaderLines val="0"/>
          </c:dLbls>
          <c:cat>
            <c:multiLvlStrRef>
              <c:f>Sheet1!$A$2:$A$4</c:f>
              <c:multiLvlStrCache>
                <c:ptCount val="3"/>
                <c:lvl>
                  <c:pt idx="0">
                    <c:v>KOKORO</c:v>
                  </c:pt>
                  <c:pt idx="1">
                    <c:v>RVC</c:v>
                  </c:pt>
                  <c:pt idx="2">
                    <c:v>SNAC</c:v>
                  </c:pt>
                </c:lvl>
              </c:multiLvlStrCache>
            </c:multiLvlStrRef>
          </c:cat>
          <c:val>
            <c:numRef>
              <c:f>Sheet1!$B$2:$B$4</c:f>
              <c:numCache>
                <c:formatCode>General</c:formatCode>
                <c:ptCount val="3"/>
                <c:pt idx="0">
                  <c:v>100</c:v>
                </c:pt>
                <c:pt idx="1">
                  <c:v>95.9</c:v>
                </c:pt>
                <c:pt idx="2">
                  <c:v>42</c:v>
                </c:pt>
              </c:numCache>
            </c:numRef>
          </c:val>
        </c:ser>
        <c:ser>
          <c:idx val="1"/>
          <c:order val="1"/>
          <c:tx>
            <c:strRef>
              <c:f>Sheet1!$C$1</c:f>
              <c:strCache>
                <c:ptCount val="1"/>
                <c:pt idx="0">
                  <c:v>Called REAL (missed)</c:v>
                </c:pt>
              </c:strCache>
            </c:strRef>
          </c:tx>
          <c:spPr>
            <a:solidFill>
              <a:srgbClr val="8A98A6"/>
            </a:solidFill>
            <a:effectLst/>
          </c:spPr>
          <c:invertIfNegative val="0"/>
          <c:dLbls>
            <c:numFmt formatCode="0.0" sourceLinked="0"/>
            <c:txPr>
              <a:bodyPr/>
              <a:lstStyle/>
              <a:p>
                <a:pPr>
                  <a:defRPr b="0" i="0" strike="noStrike" sz="1200" u="none">
                    <a:solidFill>
                      <a:srgbClr val="1E2A33"/>
                    </a:solidFill>
                    <a:latin typeface="Arial"/>
                  </a:defRPr>
                </a:pPr>
              </a:p>
            </c:txPr>
            <c:showLegendKey val="0"/>
            <c:showVal val="1"/>
            <c:showCatName val="0"/>
            <c:showSerName val="0"/>
            <c:showPercent val="0"/>
            <c:showBubbleSize val="0"/>
            <c:showLeaderLines val="0"/>
          </c:dLbls>
          <c:cat>
            <c:multiLvlStrRef>
              <c:f>Sheet1!$A$2:$A$4</c:f>
              <c:multiLvlStrCache>
                <c:ptCount val="3"/>
                <c:lvl>
                  <c:pt idx="0">
                    <c:v>KOKORO</c:v>
                  </c:pt>
                  <c:pt idx="1">
                    <c:v>RVC</c:v>
                  </c:pt>
                  <c:pt idx="2">
                    <c:v>SNAC</c:v>
                  </c:pt>
                </c:lvl>
              </c:multiLvlStrCache>
            </c:multiLvlStrRef>
          </c:cat>
          <c:val>
            <c:numRef>
              <c:f>Sheet1!$C$2:$C$4</c:f>
              <c:numCache>
                <c:formatCode>General</c:formatCode>
                <c:ptCount val="3"/>
                <c:pt idx="0">
                  <c:v>0</c:v>
                </c:pt>
                <c:pt idx="1">
                  <c:v>4.1</c:v>
                </c:pt>
                <c:pt idx="2">
                  <c:v>58</c:v>
                </c:pt>
              </c:numCache>
            </c:numRef>
          </c:val>
        </c:ser>
        <c:dLbls>
          <c:numFmt formatCode="0.0" sourceLinked="0"/>
          <c:txPr>
            <a:bodyPr/>
            <a:lstStyle/>
            <a:p>
              <a:pPr>
                <a:defRPr b="0" i="0" strike="noStrike" sz="1200" u="none">
                  <a:solidFill>
                    <a:srgbClr val="1E2A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A33"/>
                </a:solidFill>
                <a:latin typeface="Segoe U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D3DA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262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1E2A33"/>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EER %</c:v>
                </c:pt>
              </c:strCache>
            </c:strRef>
          </c:tx>
          <c:spPr>
            <a:solidFill>
              <a:srgbClr val="0F6B58"/>
            </a:solidFill>
            <a:effectLst/>
          </c:spPr>
          <c:invertIfNegative val="0"/>
          <c:dLbls>
            <c:numFmt formatCode="0.00" sourceLinked="0"/>
            <c:txPr>
              <a:bodyPr/>
              <a:lstStyle/>
              <a:p>
                <a:pPr>
                  <a:defRPr b="0" i="0" strike="noStrike" sz="1200" u="none">
                    <a:solidFill>
                      <a:srgbClr val="1E2A33"/>
                    </a:solidFill>
                    <a:latin typeface="Arial"/>
                  </a:defRPr>
                </a:pPr>
              </a:p>
            </c:txPr>
            <c:showLegendKey val="0"/>
            <c:showVal val="1"/>
            <c:showCatName val="0"/>
            <c:showSerName val="0"/>
            <c:showPercent val="0"/>
            <c:showBubbleSize val="0"/>
            <c:showLeaderLines val="0"/>
          </c:dLbls>
          <c:cat>
            <c:multiLvlStrRef>
              <c:f>Sheet1!$A$2:$A$7</c:f>
              <c:multiLvlStrCache>
                <c:ptCount val="6"/>
                <c:lvl>
                  <c:pt idx="0">
                    <c:v>Clean</c:v>
                  </c:pt>
                  <c:pt idx="1">
                    <c:v>8 kHz</c:v>
                  </c:pt>
                  <c:pt idx="2">
                    <c:v>AMR-NB 12.2k</c:v>
                  </c:pt>
                  <c:pt idx="3">
                    <c:v>Opus 12k</c:v>
                  </c:pt>
                  <c:pt idx="4">
                    <c:v>Noise 10 dB</c:v>
                  </c:pt>
                  <c:pt idx="5">
                    <c:v>Random mix</c:v>
                  </c:pt>
                </c:lvl>
              </c:multiLvlStrCache>
            </c:multiLvlStrRef>
          </c:cat>
          <c:val>
            <c:numRef>
              <c:f>Sheet1!$B$2:$B$7</c:f>
              <c:numCache>
                <c:formatCode>General</c:formatCode>
                <c:ptCount val="6"/>
                <c:pt idx="0">
                  <c:v>1.8</c:v>
                </c:pt>
                <c:pt idx="1">
                  <c:v>1.4</c:v>
                </c:pt>
                <c:pt idx="2">
                  <c:v>1.8</c:v>
                </c:pt>
                <c:pt idx="3">
                  <c:v>2.1</c:v>
                </c:pt>
                <c:pt idx="4">
                  <c:v>3.5</c:v>
                </c:pt>
                <c:pt idx="5">
                  <c:v>11.11</c:v>
                </c:pt>
              </c:numCache>
            </c:numRef>
          </c:val>
        </c:ser>
        <c:dLbls>
          <c:numFmt formatCode="0.00" sourceLinked="0"/>
          <c:txPr>
            <a:bodyPr/>
            <a:lstStyle/>
            <a:p>
              <a:pPr>
                <a:defRPr b="0" i="0" strike="noStrike" sz="1200" u="none">
                  <a:solidFill>
                    <a:srgbClr val="1E2A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A33"/>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3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62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3" name="Shape 1"/>
          <p:cNvSpPr/>
          <p:nvPr/>
        </p:nvSpPr>
        <p:spPr>
          <a:xfrm>
            <a:off x="7863840" y="1234440"/>
            <a:ext cx="3657600" cy="3657600"/>
          </a:xfrm>
          <a:prstGeom prst="ellipse">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4" name="Shape 2"/>
          <p:cNvSpPr/>
          <p:nvPr/>
        </p:nvSpPr>
        <p:spPr>
          <a:xfrm>
            <a:off x="8458200" y="1828800"/>
            <a:ext cx="2468880" cy="2468880"/>
          </a:xfrm>
          <a:prstGeom prst="ellipse">
            <a:avLst/>
          </a:prstGeom>
          <a:solidFill>
            <a:srgbClr val="E4E9EE"/>
          </a:solidFill>
          <a:ln w="12700">
            <a:solidFill>
              <a:srgbClr val="D3DAE1"/>
            </a:solidFill>
            <a:prstDash val="solid"/>
          </a:ln>
        </p:spPr>
      </p:sp>
      <p:sp>
        <p:nvSpPr>
          <p:cNvPr id="5" name="Text 3"/>
          <p:cNvSpPr/>
          <p:nvPr/>
        </p:nvSpPr>
        <p:spPr>
          <a:xfrm>
            <a:off x="8458200" y="2514600"/>
            <a:ext cx="2468880" cy="731520"/>
          </a:xfrm>
          <a:prstGeom prst="rect">
            <a:avLst/>
          </a:prstGeom>
          <a:noFill/>
          <a:ln/>
        </p:spPr>
        <p:txBody>
          <a:bodyPr wrap="square" rtlCol="0" anchor="ctr"/>
          <a:lstStyle/>
          <a:p>
            <a:pPr algn="ctr" indent="0" marL="0">
              <a:buNone/>
            </a:pPr>
            <a:r>
              <a:rPr lang="en-US" sz="3600" dirty="0">
                <a:solidFill>
                  <a:srgbClr val="C0281D"/>
                </a:solidFill>
                <a:latin typeface="Segoe UI Semibold" pitchFamily="34" charset="0"/>
                <a:ea typeface="Segoe UI Semibold" pitchFamily="34" charset="-122"/>
                <a:cs typeface="Segoe UI Semibold" pitchFamily="34" charset="-120"/>
              </a:rPr>
              <a:t>FAKE</a:t>
            </a:r>
            <a:endParaRPr lang="en-US" sz="3600" dirty="0"/>
          </a:p>
        </p:txBody>
      </p:sp>
      <p:sp>
        <p:nvSpPr>
          <p:cNvPr id="6" name="Text 4"/>
          <p:cNvSpPr/>
          <p:nvPr/>
        </p:nvSpPr>
        <p:spPr>
          <a:xfrm>
            <a:off x="8458200" y="3154680"/>
            <a:ext cx="2468880" cy="365760"/>
          </a:xfrm>
          <a:prstGeom prst="rect">
            <a:avLst/>
          </a:prstGeom>
          <a:noFill/>
          <a:ln/>
        </p:spPr>
        <p:txBody>
          <a:bodyPr wrap="square" rtlCol="0" anchor="ctr"/>
          <a:lstStyle/>
          <a:p>
            <a:pPr algn="ctr" indent="0" marL="0">
              <a:buNone/>
            </a:pPr>
            <a:r>
              <a:rPr lang="en-US" sz="1200" dirty="0">
                <a:solidFill>
                  <a:srgbClr val="526270"/>
                </a:solidFill>
                <a:latin typeface="Segoe UI" pitchFamily="34" charset="0"/>
                <a:ea typeface="Segoe UI" pitchFamily="34" charset="-122"/>
                <a:cs typeface="Segoe UI" pitchFamily="34" charset="-120"/>
              </a:rPr>
              <a:t>likely AI-cloned</a:t>
            </a:r>
            <a:endParaRPr lang="en-US" sz="1200" dirty="0"/>
          </a:p>
        </p:txBody>
      </p:sp>
      <p:sp>
        <p:nvSpPr>
          <p:cNvPr id="7" name="Text 5"/>
          <p:cNvSpPr/>
          <p:nvPr/>
        </p:nvSpPr>
        <p:spPr>
          <a:xfrm>
            <a:off x="731520" y="1463040"/>
            <a:ext cx="6858000" cy="365760"/>
          </a:xfrm>
          <a:prstGeom prst="rect">
            <a:avLst/>
          </a:prstGeom>
          <a:noFill/>
          <a:ln/>
        </p:spPr>
        <p:txBody>
          <a:bodyPr wrap="square" rtlCol="0" anchor="ctr"/>
          <a:lstStyle/>
          <a:p>
            <a:pPr indent="0" marL="0">
              <a:buNone/>
            </a:pPr>
            <a:r>
              <a:rPr lang="en-US" sz="1300" b="1" spc="300" kern="0" dirty="0">
                <a:solidFill>
                  <a:srgbClr val="0F6B58"/>
                </a:solidFill>
                <a:latin typeface="Segoe UI" pitchFamily="34" charset="0"/>
                <a:ea typeface="Segoe UI" pitchFamily="34" charset="-122"/>
                <a:cs typeface="Segoe UI" pitchFamily="34" charset="-120"/>
              </a:rPr>
              <a:t>HYPNEXIS'26  ·  TRACK 01  ·  AI-01</a:t>
            </a:r>
            <a:endParaRPr lang="en-US" sz="1300" dirty="0"/>
          </a:p>
        </p:txBody>
      </p:sp>
      <p:sp>
        <p:nvSpPr>
          <p:cNvPr id="8" name="Text 6"/>
          <p:cNvSpPr/>
          <p:nvPr/>
        </p:nvSpPr>
        <p:spPr>
          <a:xfrm>
            <a:off x="731520" y="1874520"/>
            <a:ext cx="6858000" cy="1188720"/>
          </a:xfrm>
          <a:prstGeom prst="rect">
            <a:avLst/>
          </a:prstGeom>
          <a:noFill/>
          <a:ln/>
        </p:spPr>
        <p:txBody>
          <a:bodyPr wrap="square" rtlCol="0" anchor="ctr"/>
          <a:lstStyle/>
          <a:p>
            <a:pPr indent="0" marL="0">
              <a:buNone/>
            </a:pPr>
            <a:r>
              <a:rPr lang="en-US" sz="6600" dirty="0">
                <a:solidFill>
                  <a:srgbClr val="1E2A33"/>
                </a:solidFill>
                <a:latin typeface="Segoe UI Semibold" pitchFamily="34" charset="0"/>
                <a:ea typeface="Segoe UI Semibold" pitchFamily="34" charset="-122"/>
                <a:cs typeface="Segoe UI Semibold" pitchFamily="34" charset="-120"/>
              </a:rPr>
              <a:t>Kavach</a:t>
            </a:r>
            <a:endParaRPr lang="en-US" sz="6600" dirty="0"/>
          </a:p>
        </p:txBody>
      </p:sp>
      <p:sp>
        <p:nvSpPr>
          <p:cNvPr id="9" name="Text 7"/>
          <p:cNvSpPr/>
          <p:nvPr/>
        </p:nvSpPr>
        <p:spPr>
          <a:xfrm>
            <a:off x="731520" y="3063240"/>
            <a:ext cx="6766560" cy="914400"/>
          </a:xfrm>
          <a:prstGeom prst="rect">
            <a:avLst/>
          </a:prstGeom>
          <a:noFill/>
          <a:ln/>
        </p:spPr>
        <p:txBody>
          <a:bodyPr wrap="square" rtlCol="0" anchor="ctr"/>
          <a:lstStyle/>
          <a:p>
            <a:pPr indent="0" marL="0">
              <a:buNone/>
            </a:pPr>
            <a:r>
              <a:rPr lang="en-US" sz="2400" dirty="0">
                <a:solidFill>
                  <a:srgbClr val="526270"/>
                </a:solidFill>
                <a:latin typeface="Segoe UI" pitchFamily="34" charset="0"/>
                <a:ea typeface="Segoe UI" pitchFamily="34" charset="-122"/>
                <a:cs typeface="Segoe UI" pitchFamily="34" charset="-120"/>
              </a:rPr>
              <a:t>Catching AI-cloned voices before the money moves</a:t>
            </a:r>
            <a:endParaRPr lang="en-US" sz="2400" dirty="0"/>
          </a:p>
        </p:txBody>
      </p:sp>
      <p:sp>
        <p:nvSpPr>
          <p:cNvPr id="10" name="Text 8"/>
          <p:cNvSpPr/>
          <p:nvPr/>
        </p:nvSpPr>
        <p:spPr>
          <a:xfrm>
            <a:off x="731520" y="4206240"/>
            <a:ext cx="6583680" cy="731520"/>
          </a:xfrm>
          <a:prstGeom prst="rect">
            <a:avLst/>
          </a:prstGeom>
          <a:noFill/>
          <a:ln/>
        </p:spPr>
        <p:txBody>
          <a:bodyPr wrap="square" rtlCol="0" anchor="ctr"/>
          <a:lstStyle/>
          <a:p>
            <a:pPr indent="0" marL="0">
              <a:buNone/>
            </a:pPr>
            <a:r>
              <a:rPr lang="en-US" sz="1500" dirty="0">
                <a:solidFill>
                  <a:srgbClr val="1E2A33"/>
                </a:solidFill>
                <a:latin typeface="Segoe UI" pitchFamily="34" charset="0"/>
                <a:ea typeface="Segoe UI" pitchFamily="34" charset="-122"/>
                <a:cs typeface="Segoe UI" pitchFamily="34" charset="-120"/>
              </a:rPr>
              <a:t>Voice-clone detection that keeps working on cloning tools it has never seen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THE PROBLEM</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Seconds of your voice are enough to rob your family</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1828800"/>
            <a:ext cx="2606040" cy="2377440"/>
          </a:xfrm>
          <a:prstGeom prst="roundRect">
            <a:avLst>
              <a:gd name="adj" fmla="val 6923"/>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1993392"/>
            <a:ext cx="21488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1  Collect</a:t>
            </a:r>
            <a:endParaRPr lang="en-US" sz="1800" dirty="0"/>
          </a:p>
        </p:txBody>
      </p:sp>
      <p:sp>
        <p:nvSpPr>
          <p:cNvPr id="7" name="Text 5"/>
          <p:cNvSpPr/>
          <p:nvPr/>
        </p:nvSpPr>
        <p:spPr>
          <a:xfrm>
            <a:off x="777240" y="2468880"/>
            <a:ext cx="2148840" cy="160020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A reel, a WhatsApp voice note or a short "wrong number" call gives the scammer 3–10 s of audio.</a:t>
            </a:r>
            <a:endParaRPr lang="en-US" sz="1300" dirty="0"/>
          </a:p>
        </p:txBody>
      </p:sp>
      <p:sp>
        <p:nvSpPr>
          <p:cNvPr id="8" name="Shape 6"/>
          <p:cNvSpPr/>
          <p:nvPr/>
        </p:nvSpPr>
        <p:spPr>
          <a:xfrm>
            <a:off x="3154680" y="3017520"/>
            <a:ext cx="274320" cy="0"/>
          </a:xfrm>
          <a:prstGeom prst="line">
            <a:avLst/>
          </a:prstGeom>
          <a:noFill/>
          <a:ln w="25400">
            <a:solidFill>
              <a:srgbClr val="9AA6B2"/>
            </a:solidFill>
            <a:prstDash val="solid"/>
            <a:tailEnd type="triangle"/>
          </a:ln>
        </p:spPr>
      </p:sp>
      <p:sp>
        <p:nvSpPr>
          <p:cNvPr id="9" name="Shape 7"/>
          <p:cNvSpPr/>
          <p:nvPr/>
        </p:nvSpPr>
        <p:spPr>
          <a:xfrm>
            <a:off x="3429000" y="1828800"/>
            <a:ext cx="2606040" cy="2377440"/>
          </a:xfrm>
          <a:prstGeom prst="roundRect">
            <a:avLst>
              <a:gd name="adj" fmla="val 6923"/>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0" name="Text 8"/>
          <p:cNvSpPr/>
          <p:nvPr/>
        </p:nvSpPr>
        <p:spPr>
          <a:xfrm>
            <a:off x="3657600" y="1993392"/>
            <a:ext cx="21488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2  Clone</a:t>
            </a:r>
            <a:endParaRPr lang="en-US" sz="1800" dirty="0"/>
          </a:p>
        </p:txBody>
      </p:sp>
      <p:sp>
        <p:nvSpPr>
          <p:cNvPr id="11" name="Text 9"/>
          <p:cNvSpPr/>
          <p:nvPr/>
        </p:nvSpPr>
        <p:spPr>
          <a:xfrm>
            <a:off x="3657600" y="2468880"/>
            <a:ext cx="2148840" cy="160020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Free open-source tools copy the voice in minutes.</a:t>
            </a:r>
            <a:endParaRPr lang="en-US" sz="1300" dirty="0"/>
          </a:p>
        </p:txBody>
      </p:sp>
      <p:sp>
        <p:nvSpPr>
          <p:cNvPr id="12" name="Shape 10"/>
          <p:cNvSpPr/>
          <p:nvPr/>
        </p:nvSpPr>
        <p:spPr>
          <a:xfrm>
            <a:off x="6035040" y="3017520"/>
            <a:ext cx="274320" cy="0"/>
          </a:xfrm>
          <a:prstGeom prst="line">
            <a:avLst/>
          </a:prstGeom>
          <a:noFill/>
          <a:ln w="25400">
            <a:solidFill>
              <a:srgbClr val="9AA6B2"/>
            </a:solidFill>
            <a:prstDash val="solid"/>
            <a:tailEnd type="triangle"/>
          </a:ln>
        </p:spPr>
      </p:sp>
      <p:sp>
        <p:nvSpPr>
          <p:cNvPr id="13" name="Shape 11"/>
          <p:cNvSpPr/>
          <p:nvPr/>
        </p:nvSpPr>
        <p:spPr>
          <a:xfrm>
            <a:off x="6309360" y="1828800"/>
            <a:ext cx="2606040" cy="2377440"/>
          </a:xfrm>
          <a:prstGeom prst="roundRect">
            <a:avLst>
              <a:gd name="adj" fmla="val 6923"/>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4" name="Text 12"/>
          <p:cNvSpPr/>
          <p:nvPr/>
        </p:nvSpPr>
        <p:spPr>
          <a:xfrm>
            <a:off x="6537960" y="1993392"/>
            <a:ext cx="21488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3  Call</a:t>
            </a:r>
            <a:endParaRPr lang="en-US" sz="1800" dirty="0"/>
          </a:p>
        </p:txBody>
      </p:sp>
      <p:sp>
        <p:nvSpPr>
          <p:cNvPr id="15" name="Text 13"/>
          <p:cNvSpPr/>
          <p:nvPr/>
        </p:nvSpPr>
        <p:spPr>
          <a:xfrm>
            <a:off x="6537960" y="2468880"/>
            <a:ext cx="2148840" cy="160020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"Papa, accident ho gaya, jaldi paise bhejo." Same voice, real panic.</a:t>
            </a:r>
            <a:endParaRPr lang="en-US" sz="1300" dirty="0"/>
          </a:p>
        </p:txBody>
      </p:sp>
      <p:sp>
        <p:nvSpPr>
          <p:cNvPr id="16" name="Shape 14"/>
          <p:cNvSpPr/>
          <p:nvPr/>
        </p:nvSpPr>
        <p:spPr>
          <a:xfrm>
            <a:off x="8915400" y="3017520"/>
            <a:ext cx="274320" cy="0"/>
          </a:xfrm>
          <a:prstGeom prst="line">
            <a:avLst/>
          </a:prstGeom>
          <a:noFill/>
          <a:ln w="25400">
            <a:solidFill>
              <a:srgbClr val="9AA6B2"/>
            </a:solidFill>
            <a:prstDash val="solid"/>
            <a:tailEnd type="triangle"/>
          </a:ln>
        </p:spPr>
      </p:sp>
      <p:sp>
        <p:nvSpPr>
          <p:cNvPr id="17" name="Shape 15"/>
          <p:cNvSpPr/>
          <p:nvPr/>
        </p:nvSpPr>
        <p:spPr>
          <a:xfrm>
            <a:off x="9189720" y="1828800"/>
            <a:ext cx="2606040" cy="2377440"/>
          </a:xfrm>
          <a:prstGeom prst="roundRect">
            <a:avLst>
              <a:gd name="adj" fmla="val 6923"/>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8" name="Text 16"/>
          <p:cNvSpPr/>
          <p:nvPr/>
        </p:nvSpPr>
        <p:spPr>
          <a:xfrm>
            <a:off x="9418320" y="1993392"/>
            <a:ext cx="2148840" cy="457200"/>
          </a:xfrm>
          <a:prstGeom prst="rect">
            <a:avLst/>
          </a:prstGeom>
          <a:noFill/>
          <a:ln/>
        </p:spPr>
        <p:txBody>
          <a:bodyPr wrap="square" rtlCol="0" anchor="t"/>
          <a:lstStyle/>
          <a:p>
            <a:pPr indent="0" marL="0">
              <a:buNone/>
            </a:pPr>
            <a:r>
              <a:rPr lang="en-US" sz="1800" dirty="0">
                <a:solidFill>
                  <a:srgbClr val="C0281D"/>
                </a:solidFill>
                <a:latin typeface="Segoe UI Semibold" pitchFamily="34" charset="0"/>
                <a:ea typeface="Segoe UI Semibold" pitchFamily="34" charset="-122"/>
                <a:cs typeface="Segoe UI Semibold" pitchFamily="34" charset="-120"/>
              </a:rPr>
              <a:t>4  Pay</a:t>
            </a:r>
            <a:endParaRPr lang="en-US" sz="1800" dirty="0"/>
          </a:p>
        </p:txBody>
      </p:sp>
      <p:sp>
        <p:nvSpPr>
          <p:cNvPr id="19" name="Text 17"/>
          <p:cNvSpPr/>
          <p:nvPr/>
        </p:nvSpPr>
        <p:spPr>
          <a:xfrm>
            <a:off x="9418320" y="2468880"/>
            <a:ext cx="2148840" cy="160020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Money leaves by instant transfer before anyone checks.</a:t>
            </a:r>
            <a:endParaRPr lang="en-US" sz="1300" dirty="0"/>
          </a:p>
        </p:txBody>
      </p:sp>
      <p:sp>
        <p:nvSpPr>
          <p:cNvPr id="20" name="Shape 18"/>
          <p:cNvSpPr/>
          <p:nvPr/>
        </p:nvSpPr>
        <p:spPr>
          <a:xfrm>
            <a:off x="548640" y="4572000"/>
            <a:ext cx="11064240" cy="1417320"/>
          </a:xfrm>
          <a:prstGeom prst="roundRect">
            <a:avLst>
              <a:gd name="adj" fmla="val 11613"/>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21" name="Text 19"/>
          <p:cNvSpPr/>
          <p:nvPr/>
        </p:nvSpPr>
        <p:spPr>
          <a:xfrm>
            <a:off x="777240" y="4736592"/>
            <a:ext cx="1060704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Why it works</a:t>
            </a:r>
            <a:endParaRPr lang="en-US" sz="1800" dirty="0"/>
          </a:p>
        </p:txBody>
      </p:sp>
      <p:sp>
        <p:nvSpPr>
          <p:cNvPr id="22" name="Text 20"/>
          <p:cNvSpPr/>
          <p:nvPr/>
        </p:nvSpPr>
        <p:spPr>
          <a:xfrm>
            <a:off x="777240" y="5212080"/>
            <a:ext cx="10607040" cy="64008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People trust a familiar voice, and today's phones give no signal that a voice might be synthetic.</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WHY DETECTION FAILS</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Most detectors learn the wrong thing</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1737360"/>
            <a:ext cx="544068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1901952"/>
            <a:ext cx="498348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Unseen cloners</a:t>
            </a:r>
            <a:endParaRPr lang="en-US" sz="1800" dirty="0"/>
          </a:p>
        </p:txBody>
      </p:sp>
      <p:sp>
        <p:nvSpPr>
          <p:cNvPr id="7" name="Text 5"/>
          <p:cNvSpPr/>
          <p:nvPr/>
        </p:nvSpPr>
        <p:spPr>
          <a:xfrm>
            <a:off x="777240" y="2377440"/>
            <a:ext cx="4983480" cy="123444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Trained on known tools, they memorise those tools' quirks and miss new ones.</a:t>
            </a:r>
            <a:endParaRPr lang="en-US" sz="1500" dirty="0"/>
          </a:p>
        </p:txBody>
      </p:sp>
      <p:sp>
        <p:nvSpPr>
          <p:cNvPr id="8" name="Shape 6"/>
          <p:cNvSpPr/>
          <p:nvPr/>
        </p:nvSpPr>
        <p:spPr>
          <a:xfrm>
            <a:off x="6172200" y="1737360"/>
            <a:ext cx="544068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9" name="Text 7"/>
          <p:cNvSpPr/>
          <p:nvPr/>
        </p:nvSpPr>
        <p:spPr>
          <a:xfrm>
            <a:off x="6400800" y="1901952"/>
            <a:ext cx="4983480" cy="457200"/>
          </a:xfrm>
          <a:prstGeom prst="rect">
            <a:avLst/>
          </a:prstGeom>
          <a:noFill/>
          <a:ln/>
        </p:spPr>
        <p:txBody>
          <a:bodyPr wrap="square" rtlCol="0" anchor="t"/>
          <a:lstStyle/>
          <a:p>
            <a:pPr indent="0" marL="0">
              <a:buNone/>
            </a:pPr>
            <a:r>
              <a:rPr lang="en-US" sz="1800" dirty="0">
                <a:solidFill>
                  <a:srgbClr val="C0281D"/>
                </a:solidFill>
                <a:latin typeface="Segoe UI Semibold" pitchFamily="34" charset="0"/>
                <a:ea typeface="Segoe UI Semibold" pitchFamily="34" charset="-122"/>
                <a:cs typeface="Segoe UI Semibold" pitchFamily="34" charset="-120"/>
              </a:rPr>
              <a:t>Shortcuts</a:t>
            </a:r>
            <a:endParaRPr lang="en-US" sz="1800" dirty="0"/>
          </a:p>
        </p:txBody>
      </p:sp>
      <p:sp>
        <p:nvSpPr>
          <p:cNvPr id="10" name="Text 8"/>
          <p:cNvSpPr/>
          <p:nvPr/>
        </p:nvSpPr>
        <p:spPr>
          <a:xfrm>
            <a:off x="6400800" y="2377440"/>
            <a:ext cx="4983480" cy="123444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Benchmarks leak the answer through silence length and loudness. Models learn that instead of the voice.</a:t>
            </a:r>
            <a:endParaRPr lang="en-US" sz="1500" dirty="0"/>
          </a:p>
        </p:txBody>
      </p:sp>
      <p:sp>
        <p:nvSpPr>
          <p:cNvPr id="11" name="Shape 9"/>
          <p:cNvSpPr/>
          <p:nvPr/>
        </p:nvSpPr>
        <p:spPr>
          <a:xfrm>
            <a:off x="548640" y="3977640"/>
            <a:ext cx="544068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2" name="Text 10"/>
          <p:cNvSpPr/>
          <p:nvPr/>
        </p:nvSpPr>
        <p:spPr>
          <a:xfrm>
            <a:off x="777240" y="4142232"/>
            <a:ext cx="498348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Short clips</a:t>
            </a:r>
            <a:endParaRPr lang="en-US" sz="1800" dirty="0"/>
          </a:p>
        </p:txBody>
      </p:sp>
      <p:sp>
        <p:nvSpPr>
          <p:cNvPr id="13" name="Text 11"/>
          <p:cNvSpPr/>
          <p:nvPr/>
        </p:nvSpPr>
        <p:spPr>
          <a:xfrm>
            <a:off x="777240" y="4617720"/>
            <a:ext cx="4983480" cy="123444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2–10 s carries little evidence.</a:t>
            </a:r>
            <a:endParaRPr lang="en-US" sz="1500" dirty="0"/>
          </a:p>
        </p:txBody>
      </p:sp>
      <p:sp>
        <p:nvSpPr>
          <p:cNvPr id="14" name="Shape 12"/>
          <p:cNvSpPr/>
          <p:nvPr/>
        </p:nvSpPr>
        <p:spPr>
          <a:xfrm>
            <a:off x="6172200" y="3977640"/>
            <a:ext cx="544068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5" name="Text 13"/>
          <p:cNvSpPr/>
          <p:nvPr/>
        </p:nvSpPr>
        <p:spPr>
          <a:xfrm>
            <a:off x="6400800" y="4142232"/>
            <a:ext cx="498348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Many languages</a:t>
            </a:r>
            <a:endParaRPr lang="en-US" sz="1800" dirty="0"/>
          </a:p>
        </p:txBody>
      </p:sp>
      <p:sp>
        <p:nvSpPr>
          <p:cNvPr id="16" name="Text 14"/>
          <p:cNvSpPr/>
          <p:nvPr/>
        </p:nvSpPr>
        <p:spPr>
          <a:xfrm>
            <a:off x="6400800" y="4617720"/>
            <a:ext cx="4983480" cy="123444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Training data is mostly English. Scam calls in India are not.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OUR INSIGHT</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Every cloner ends in a vocoder</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1737360"/>
            <a:ext cx="3291840" cy="1463040"/>
          </a:xfrm>
          <a:prstGeom prst="roundRect">
            <a:avLst>
              <a:gd name="adj" fmla="val 1125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1901952"/>
            <a:ext cx="28346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Text + target voice</a:t>
            </a:r>
            <a:endParaRPr lang="en-US" sz="1800" dirty="0"/>
          </a:p>
        </p:txBody>
      </p:sp>
      <p:sp>
        <p:nvSpPr>
          <p:cNvPr id="7" name="Text 5"/>
          <p:cNvSpPr/>
          <p:nvPr/>
        </p:nvSpPr>
        <p:spPr>
          <a:xfrm>
            <a:off x="777240" y="2377440"/>
            <a:ext cx="2834640" cy="68580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what to say, in whose voice</a:t>
            </a:r>
            <a:endParaRPr lang="en-US" sz="1300" dirty="0"/>
          </a:p>
        </p:txBody>
      </p:sp>
      <p:sp>
        <p:nvSpPr>
          <p:cNvPr id="8" name="Shape 6"/>
          <p:cNvSpPr/>
          <p:nvPr/>
        </p:nvSpPr>
        <p:spPr>
          <a:xfrm>
            <a:off x="4434840" y="1737360"/>
            <a:ext cx="3291840" cy="1463040"/>
          </a:xfrm>
          <a:prstGeom prst="roundRect">
            <a:avLst>
              <a:gd name="adj" fmla="val 1125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9" name="Text 7"/>
          <p:cNvSpPr/>
          <p:nvPr/>
        </p:nvSpPr>
        <p:spPr>
          <a:xfrm>
            <a:off x="4663440" y="1901952"/>
            <a:ext cx="28346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Cloning model</a:t>
            </a:r>
            <a:endParaRPr lang="en-US" sz="1800" dirty="0"/>
          </a:p>
        </p:txBody>
      </p:sp>
      <p:sp>
        <p:nvSpPr>
          <p:cNvPr id="10" name="Text 8"/>
          <p:cNvSpPr/>
          <p:nvPr/>
        </p:nvSpPr>
        <p:spPr>
          <a:xfrm>
            <a:off x="4663440" y="2377440"/>
            <a:ext cx="2834640" cy="68580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changes with every new tool</a:t>
            </a:r>
            <a:endParaRPr lang="en-US" sz="1300" dirty="0"/>
          </a:p>
        </p:txBody>
      </p:sp>
      <p:sp>
        <p:nvSpPr>
          <p:cNvPr id="11" name="Shape 9"/>
          <p:cNvSpPr/>
          <p:nvPr/>
        </p:nvSpPr>
        <p:spPr>
          <a:xfrm>
            <a:off x="8321040" y="1737360"/>
            <a:ext cx="3291840" cy="1463040"/>
          </a:xfrm>
          <a:prstGeom prst="roundRect">
            <a:avLst>
              <a:gd name="adj" fmla="val 1125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2" name="Text 10"/>
          <p:cNvSpPr/>
          <p:nvPr/>
        </p:nvSpPr>
        <p:spPr>
          <a:xfrm>
            <a:off x="8549640" y="1901952"/>
            <a:ext cx="2834640" cy="457200"/>
          </a:xfrm>
          <a:prstGeom prst="rect">
            <a:avLst/>
          </a:prstGeom>
          <a:noFill/>
          <a:ln/>
        </p:spPr>
        <p:txBody>
          <a:bodyPr wrap="square" rtlCol="0" anchor="t"/>
          <a:lstStyle/>
          <a:p>
            <a:pPr indent="0" marL="0">
              <a:buNone/>
            </a:pPr>
            <a:r>
              <a:rPr lang="en-US" sz="1800" dirty="0">
                <a:solidFill>
                  <a:srgbClr val="C0281D"/>
                </a:solidFill>
                <a:latin typeface="Segoe UI Semibold" pitchFamily="34" charset="0"/>
                <a:ea typeface="Segoe UI Semibold" pitchFamily="34" charset="-122"/>
                <a:cs typeface="Segoe UI Semibold" pitchFamily="34" charset="-120"/>
              </a:rPr>
              <a:t>Vocoder / codec</a:t>
            </a:r>
            <a:endParaRPr lang="en-US" sz="1800" dirty="0"/>
          </a:p>
        </p:txBody>
      </p:sp>
      <p:sp>
        <p:nvSpPr>
          <p:cNvPr id="13" name="Text 11"/>
          <p:cNvSpPr/>
          <p:nvPr/>
        </p:nvSpPr>
        <p:spPr>
          <a:xfrm>
            <a:off x="8549640" y="2377440"/>
            <a:ext cx="2834640" cy="68580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turns it into sound: leaves fingerprints</a:t>
            </a:r>
            <a:endParaRPr lang="en-US" sz="1300" dirty="0"/>
          </a:p>
        </p:txBody>
      </p:sp>
      <p:sp>
        <p:nvSpPr>
          <p:cNvPr id="14" name="Shape 12"/>
          <p:cNvSpPr/>
          <p:nvPr/>
        </p:nvSpPr>
        <p:spPr>
          <a:xfrm>
            <a:off x="3886200" y="2468880"/>
            <a:ext cx="502920" cy="0"/>
          </a:xfrm>
          <a:prstGeom prst="line">
            <a:avLst/>
          </a:prstGeom>
          <a:noFill/>
          <a:ln w="25400">
            <a:solidFill>
              <a:srgbClr val="9AA6B2"/>
            </a:solidFill>
            <a:prstDash val="solid"/>
            <a:tailEnd type="triangle"/>
          </a:ln>
        </p:spPr>
      </p:sp>
      <p:sp>
        <p:nvSpPr>
          <p:cNvPr id="15" name="Shape 13"/>
          <p:cNvSpPr/>
          <p:nvPr/>
        </p:nvSpPr>
        <p:spPr>
          <a:xfrm>
            <a:off x="7772400" y="2468880"/>
            <a:ext cx="502920" cy="0"/>
          </a:xfrm>
          <a:prstGeom prst="line">
            <a:avLst/>
          </a:prstGeom>
          <a:noFill/>
          <a:ln w="25400">
            <a:solidFill>
              <a:srgbClr val="9AA6B2"/>
            </a:solidFill>
            <a:prstDash val="solid"/>
            <a:tailEnd type="triangle"/>
          </a:ln>
        </p:spPr>
      </p:sp>
      <p:sp>
        <p:nvSpPr>
          <p:cNvPr id="16" name="Shape 14"/>
          <p:cNvSpPr/>
          <p:nvPr/>
        </p:nvSpPr>
        <p:spPr>
          <a:xfrm>
            <a:off x="548640" y="3657600"/>
            <a:ext cx="11064240" cy="2377440"/>
          </a:xfrm>
          <a:prstGeom prst="roundRect">
            <a:avLst>
              <a:gd name="adj" fmla="val 6923"/>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7" name="Text 15"/>
          <p:cNvSpPr/>
          <p:nvPr/>
        </p:nvSpPr>
        <p:spPr>
          <a:xfrm>
            <a:off x="777240" y="3822192"/>
            <a:ext cx="1060704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So we detect the fingerprint, not the tool</a:t>
            </a:r>
            <a:endParaRPr lang="en-US" sz="1800" dirty="0"/>
          </a:p>
        </p:txBody>
      </p:sp>
      <p:sp>
        <p:nvSpPr>
          <p:cNvPr id="18" name="Text 16"/>
          <p:cNvSpPr/>
          <p:nvPr/>
        </p:nvSpPr>
        <p:spPr>
          <a:xfrm>
            <a:off x="777240" y="4297680"/>
            <a:ext cx="10607040" cy="1600200"/>
          </a:xfrm>
          <a:prstGeom prst="rect">
            <a:avLst/>
          </a:prstGeom>
          <a:noFill/>
          <a:ln/>
        </p:spPr>
        <p:txBody>
          <a:bodyPr wrap="square" rtlCol="0" anchor="t"/>
          <a:lstStyle/>
          <a:p>
            <a:pPr indent="0" marL="0">
              <a:spcAft>
                <a:spcPts val="400"/>
              </a:spcAft>
              <a:buNone/>
            </a:pPr>
            <a:r>
              <a:rPr lang="en-US" sz="1600" dirty="0">
                <a:solidFill>
                  <a:srgbClr val="526270"/>
                </a:solidFill>
                <a:latin typeface="Segoe UI" pitchFamily="34" charset="0"/>
                <a:ea typeface="Segoe UI" pitchFamily="34" charset="-122"/>
                <a:cs typeface="Segoe UI" pitchFamily="34" charset="-120"/>
              </a:rPr>
              <a:t>XLS-R, a speech model pretrained on 436,000 hours of real speech in 128 languages, is kept frozen. It already knows what real speech looks like at every level. We read all 25 of its layers, learn which ones carry the fake signal, and train only a small classifier on top. A frozen model cannot overfit to one cloner's artifacts.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HOW IT WORKS</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From a 2–10 second clip to a verdict in under a second</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2011680"/>
            <a:ext cx="1691640" cy="1828800"/>
          </a:xfrm>
          <a:prstGeom prst="roundRect">
            <a:avLst>
              <a:gd name="adj" fmla="val 973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2176272"/>
            <a:ext cx="12344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Clean</a:t>
            </a:r>
            <a:endParaRPr lang="en-US" sz="1800" dirty="0"/>
          </a:p>
        </p:txBody>
      </p:sp>
      <p:sp>
        <p:nvSpPr>
          <p:cNvPr id="7" name="Text 5"/>
          <p:cNvSpPr/>
          <p:nvPr/>
        </p:nvSpPr>
        <p:spPr>
          <a:xfrm>
            <a:off x="777240" y="2651760"/>
            <a:ext cx="1234440" cy="105156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trim silence</a:t>
            </a:r>
            <a:endParaRPr lang="en-US" sz="1200" dirty="0"/>
          </a:p>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equal loudness</a:t>
            </a:r>
            <a:endParaRPr lang="en-US" sz="1200" dirty="0"/>
          </a:p>
        </p:txBody>
      </p:sp>
      <p:sp>
        <p:nvSpPr>
          <p:cNvPr id="8" name="Shape 6"/>
          <p:cNvSpPr/>
          <p:nvPr/>
        </p:nvSpPr>
        <p:spPr>
          <a:xfrm>
            <a:off x="2258568" y="2926080"/>
            <a:ext cx="173736" cy="0"/>
          </a:xfrm>
          <a:prstGeom prst="line">
            <a:avLst/>
          </a:prstGeom>
          <a:noFill/>
          <a:ln w="25400">
            <a:solidFill>
              <a:srgbClr val="9AA6B2"/>
            </a:solidFill>
            <a:prstDash val="solid"/>
            <a:tailEnd type="triangle"/>
          </a:ln>
        </p:spPr>
      </p:sp>
      <p:sp>
        <p:nvSpPr>
          <p:cNvPr id="9" name="Shape 7"/>
          <p:cNvSpPr/>
          <p:nvPr/>
        </p:nvSpPr>
        <p:spPr>
          <a:xfrm>
            <a:off x="2450592" y="2011680"/>
            <a:ext cx="1691640" cy="1828800"/>
          </a:xfrm>
          <a:prstGeom prst="roundRect">
            <a:avLst>
              <a:gd name="adj" fmla="val 973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0" name="Text 8"/>
          <p:cNvSpPr/>
          <p:nvPr/>
        </p:nvSpPr>
        <p:spPr>
          <a:xfrm>
            <a:off x="2679192" y="2176272"/>
            <a:ext cx="12344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Phone</a:t>
            </a:r>
            <a:endParaRPr lang="en-US" sz="1800" dirty="0"/>
          </a:p>
        </p:txBody>
      </p:sp>
      <p:sp>
        <p:nvSpPr>
          <p:cNvPr id="11" name="Text 9"/>
          <p:cNvSpPr/>
          <p:nvPr/>
        </p:nvSpPr>
        <p:spPr>
          <a:xfrm>
            <a:off x="2679192" y="2651760"/>
            <a:ext cx="1234440" cy="105156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8 kHz line,</a:t>
            </a:r>
            <a:endParaRPr lang="en-US" sz="1200" dirty="0"/>
          </a:p>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codec, noise</a:t>
            </a:r>
            <a:endParaRPr lang="en-US" sz="1200" dirty="0"/>
          </a:p>
        </p:txBody>
      </p:sp>
      <p:sp>
        <p:nvSpPr>
          <p:cNvPr id="12" name="Shape 10"/>
          <p:cNvSpPr/>
          <p:nvPr/>
        </p:nvSpPr>
        <p:spPr>
          <a:xfrm>
            <a:off x="4160520" y="2926080"/>
            <a:ext cx="173736" cy="0"/>
          </a:xfrm>
          <a:prstGeom prst="line">
            <a:avLst/>
          </a:prstGeom>
          <a:noFill/>
          <a:ln w="25400">
            <a:solidFill>
              <a:srgbClr val="9AA6B2"/>
            </a:solidFill>
            <a:prstDash val="solid"/>
            <a:tailEnd type="triangle"/>
          </a:ln>
        </p:spPr>
      </p:sp>
      <p:sp>
        <p:nvSpPr>
          <p:cNvPr id="13" name="Shape 11"/>
          <p:cNvSpPr/>
          <p:nvPr/>
        </p:nvSpPr>
        <p:spPr>
          <a:xfrm>
            <a:off x="4352544" y="2011680"/>
            <a:ext cx="1691640" cy="1828800"/>
          </a:xfrm>
          <a:prstGeom prst="roundRect">
            <a:avLst>
              <a:gd name="adj" fmla="val 973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4" name="Text 12"/>
          <p:cNvSpPr/>
          <p:nvPr/>
        </p:nvSpPr>
        <p:spPr>
          <a:xfrm>
            <a:off x="4581144" y="2176272"/>
            <a:ext cx="12344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Ears</a:t>
            </a:r>
            <a:endParaRPr lang="en-US" sz="1800" dirty="0"/>
          </a:p>
        </p:txBody>
      </p:sp>
      <p:sp>
        <p:nvSpPr>
          <p:cNvPr id="15" name="Text 13"/>
          <p:cNvSpPr/>
          <p:nvPr/>
        </p:nvSpPr>
        <p:spPr>
          <a:xfrm>
            <a:off x="4581144" y="2651760"/>
            <a:ext cx="1234440" cy="105156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XLS-R 300M</a:t>
            </a:r>
            <a:endParaRPr lang="en-US" sz="1200" dirty="0"/>
          </a:p>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frozen, 25 layers</a:t>
            </a:r>
            <a:endParaRPr lang="en-US" sz="1200" dirty="0"/>
          </a:p>
        </p:txBody>
      </p:sp>
      <p:sp>
        <p:nvSpPr>
          <p:cNvPr id="16" name="Shape 14"/>
          <p:cNvSpPr/>
          <p:nvPr/>
        </p:nvSpPr>
        <p:spPr>
          <a:xfrm>
            <a:off x="6062472" y="2926080"/>
            <a:ext cx="173736" cy="0"/>
          </a:xfrm>
          <a:prstGeom prst="line">
            <a:avLst/>
          </a:prstGeom>
          <a:noFill/>
          <a:ln w="25400">
            <a:solidFill>
              <a:srgbClr val="9AA6B2"/>
            </a:solidFill>
            <a:prstDash val="solid"/>
            <a:tailEnd type="triangle"/>
          </a:ln>
        </p:spPr>
      </p:sp>
      <p:sp>
        <p:nvSpPr>
          <p:cNvPr id="17" name="Shape 15"/>
          <p:cNvSpPr/>
          <p:nvPr/>
        </p:nvSpPr>
        <p:spPr>
          <a:xfrm>
            <a:off x="6254496" y="2011680"/>
            <a:ext cx="1691640" cy="1828800"/>
          </a:xfrm>
          <a:prstGeom prst="roundRect">
            <a:avLst>
              <a:gd name="adj" fmla="val 973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8" name="Text 16"/>
          <p:cNvSpPr/>
          <p:nvPr/>
        </p:nvSpPr>
        <p:spPr>
          <a:xfrm>
            <a:off x="6483096" y="2176272"/>
            <a:ext cx="12344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Mixer</a:t>
            </a:r>
            <a:endParaRPr lang="en-US" sz="1800" dirty="0"/>
          </a:p>
        </p:txBody>
      </p:sp>
      <p:sp>
        <p:nvSpPr>
          <p:cNvPr id="19" name="Text 17"/>
          <p:cNvSpPr/>
          <p:nvPr/>
        </p:nvSpPr>
        <p:spPr>
          <a:xfrm>
            <a:off x="6483096" y="2651760"/>
            <a:ext cx="1234440" cy="105156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learned layer</a:t>
            </a:r>
            <a:endParaRPr lang="en-US" sz="1200" dirty="0"/>
          </a:p>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weights</a:t>
            </a:r>
            <a:endParaRPr lang="en-US" sz="1200" dirty="0"/>
          </a:p>
        </p:txBody>
      </p:sp>
      <p:sp>
        <p:nvSpPr>
          <p:cNvPr id="20" name="Shape 18"/>
          <p:cNvSpPr/>
          <p:nvPr/>
        </p:nvSpPr>
        <p:spPr>
          <a:xfrm>
            <a:off x="7964424" y="2926080"/>
            <a:ext cx="173736" cy="0"/>
          </a:xfrm>
          <a:prstGeom prst="line">
            <a:avLst/>
          </a:prstGeom>
          <a:noFill/>
          <a:ln w="25400">
            <a:solidFill>
              <a:srgbClr val="9AA6B2"/>
            </a:solidFill>
            <a:prstDash val="solid"/>
            <a:tailEnd type="triangle"/>
          </a:ln>
        </p:spPr>
      </p:sp>
      <p:sp>
        <p:nvSpPr>
          <p:cNvPr id="21" name="Shape 19"/>
          <p:cNvSpPr/>
          <p:nvPr/>
        </p:nvSpPr>
        <p:spPr>
          <a:xfrm>
            <a:off x="8156448" y="2011680"/>
            <a:ext cx="1691640" cy="1828800"/>
          </a:xfrm>
          <a:prstGeom prst="roundRect">
            <a:avLst>
              <a:gd name="adj" fmla="val 973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22" name="Text 20"/>
          <p:cNvSpPr/>
          <p:nvPr/>
        </p:nvSpPr>
        <p:spPr>
          <a:xfrm>
            <a:off x="8385048" y="2176272"/>
            <a:ext cx="12344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Judge</a:t>
            </a:r>
            <a:endParaRPr lang="en-US" sz="1800" dirty="0"/>
          </a:p>
        </p:txBody>
      </p:sp>
      <p:sp>
        <p:nvSpPr>
          <p:cNvPr id="23" name="Text 21"/>
          <p:cNvSpPr/>
          <p:nvPr/>
        </p:nvSpPr>
        <p:spPr>
          <a:xfrm>
            <a:off x="8385048" y="2651760"/>
            <a:ext cx="1234440" cy="105156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small MLP</a:t>
            </a:r>
            <a:endParaRPr lang="en-US" sz="1200" dirty="0"/>
          </a:p>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score 0–100</a:t>
            </a:r>
            <a:endParaRPr lang="en-US" sz="1200" dirty="0"/>
          </a:p>
        </p:txBody>
      </p:sp>
      <p:sp>
        <p:nvSpPr>
          <p:cNvPr id="24" name="Shape 22"/>
          <p:cNvSpPr/>
          <p:nvPr/>
        </p:nvSpPr>
        <p:spPr>
          <a:xfrm>
            <a:off x="9866376" y="2926080"/>
            <a:ext cx="173736" cy="0"/>
          </a:xfrm>
          <a:prstGeom prst="line">
            <a:avLst/>
          </a:prstGeom>
          <a:noFill/>
          <a:ln w="25400">
            <a:solidFill>
              <a:srgbClr val="9AA6B2"/>
            </a:solidFill>
            <a:prstDash val="solid"/>
            <a:tailEnd type="triangle"/>
          </a:ln>
        </p:spPr>
      </p:sp>
      <p:sp>
        <p:nvSpPr>
          <p:cNvPr id="25" name="Shape 23"/>
          <p:cNvSpPr/>
          <p:nvPr/>
        </p:nvSpPr>
        <p:spPr>
          <a:xfrm>
            <a:off x="10058400" y="2011680"/>
            <a:ext cx="1691640" cy="1828800"/>
          </a:xfrm>
          <a:prstGeom prst="roundRect">
            <a:avLst>
              <a:gd name="adj" fmla="val 973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26" name="Text 24"/>
          <p:cNvSpPr/>
          <p:nvPr/>
        </p:nvSpPr>
        <p:spPr>
          <a:xfrm>
            <a:off x="10287000" y="2176272"/>
            <a:ext cx="123444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Verdict</a:t>
            </a:r>
            <a:endParaRPr lang="en-US" sz="1800" dirty="0"/>
          </a:p>
        </p:txBody>
      </p:sp>
      <p:sp>
        <p:nvSpPr>
          <p:cNvPr id="27" name="Text 25"/>
          <p:cNvSpPr/>
          <p:nvPr/>
        </p:nvSpPr>
        <p:spPr>
          <a:xfrm>
            <a:off x="10287000" y="2651760"/>
            <a:ext cx="1234440" cy="105156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REAL / NOT SURE</a:t>
            </a:r>
            <a:endParaRPr lang="en-US" sz="1200" dirty="0"/>
          </a:p>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 FAKE</a:t>
            </a:r>
            <a:endParaRPr lang="en-US" sz="1200" dirty="0"/>
          </a:p>
        </p:txBody>
      </p:sp>
      <p:sp>
        <p:nvSpPr>
          <p:cNvPr id="28" name="Shape 26"/>
          <p:cNvSpPr/>
          <p:nvPr/>
        </p:nvSpPr>
        <p:spPr>
          <a:xfrm>
            <a:off x="548640" y="4343400"/>
            <a:ext cx="3566160" cy="1645920"/>
          </a:xfrm>
          <a:prstGeom prst="roundRect">
            <a:avLst>
              <a:gd name="adj" fmla="val 1000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29" name="Text 27"/>
          <p:cNvSpPr/>
          <p:nvPr/>
        </p:nvSpPr>
        <p:spPr>
          <a:xfrm>
            <a:off x="777240" y="4507992"/>
            <a:ext cx="3108960" cy="457200"/>
          </a:xfrm>
          <a:prstGeom prst="rect">
            <a:avLst/>
          </a:prstGeom>
          <a:noFill/>
          <a:ln/>
        </p:spPr>
        <p:txBody>
          <a:bodyPr wrap="square" rtlCol="0" anchor="t"/>
          <a:lstStyle/>
          <a:p>
            <a:pPr indent="0" marL="0">
              <a:buNone/>
            </a:pPr>
            <a:r>
              <a:rPr lang="en-US" sz="1800" dirty="0">
                <a:solidFill>
                  <a:srgbClr val="157A43"/>
                </a:solidFill>
                <a:latin typeface="Segoe UI Semibold" pitchFamily="34" charset="0"/>
                <a:ea typeface="Segoe UI Semibold" pitchFamily="34" charset="-122"/>
                <a:cs typeface="Segoe UI Semibold" pitchFamily="34" charset="-120"/>
              </a:rPr>
              <a:t>REAL</a:t>
            </a:r>
            <a:endParaRPr lang="en-US" sz="1800" dirty="0"/>
          </a:p>
        </p:txBody>
      </p:sp>
      <p:sp>
        <p:nvSpPr>
          <p:cNvPr id="30" name="Text 28"/>
          <p:cNvSpPr/>
          <p:nvPr/>
        </p:nvSpPr>
        <p:spPr>
          <a:xfrm>
            <a:off x="777240" y="4983480"/>
            <a:ext cx="3108960" cy="868680"/>
          </a:xfrm>
          <a:prstGeom prst="rect">
            <a:avLst/>
          </a:prstGeom>
          <a:noFill/>
          <a:ln/>
        </p:spPr>
        <p:txBody>
          <a:bodyPr wrap="square" rtlCol="0" anchor="t"/>
          <a:lstStyle/>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This sounds like a real person.</a:t>
            </a:r>
            <a:endParaRPr lang="en-US" sz="1400" dirty="0"/>
          </a:p>
        </p:txBody>
      </p:sp>
      <p:sp>
        <p:nvSpPr>
          <p:cNvPr id="31" name="Shape 29"/>
          <p:cNvSpPr/>
          <p:nvPr/>
        </p:nvSpPr>
        <p:spPr>
          <a:xfrm>
            <a:off x="4297680" y="4343400"/>
            <a:ext cx="3566160" cy="1645920"/>
          </a:xfrm>
          <a:prstGeom prst="roundRect">
            <a:avLst>
              <a:gd name="adj" fmla="val 1000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32" name="Text 30"/>
          <p:cNvSpPr/>
          <p:nvPr/>
        </p:nvSpPr>
        <p:spPr>
          <a:xfrm>
            <a:off x="4526280" y="4507992"/>
            <a:ext cx="3108960" cy="457200"/>
          </a:xfrm>
          <a:prstGeom prst="rect">
            <a:avLst/>
          </a:prstGeom>
          <a:noFill/>
          <a:ln/>
        </p:spPr>
        <p:txBody>
          <a:bodyPr wrap="square" rtlCol="0" anchor="t"/>
          <a:lstStyle/>
          <a:p>
            <a:pPr indent="0" marL="0">
              <a:buNone/>
            </a:pPr>
            <a:r>
              <a:rPr lang="en-US" sz="1800" dirty="0">
                <a:solidFill>
                  <a:srgbClr val="9A5A00"/>
                </a:solidFill>
                <a:latin typeface="Segoe UI Semibold" pitchFamily="34" charset="0"/>
                <a:ea typeface="Segoe UI Semibold" pitchFamily="34" charset="-122"/>
                <a:cs typeface="Segoe UI Semibold" pitchFamily="34" charset="-120"/>
              </a:rPr>
              <a:t>NOT SURE</a:t>
            </a:r>
            <a:endParaRPr lang="en-US" sz="1800" dirty="0"/>
          </a:p>
        </p:txBody>
      </p:sp>
      <p:sp>
        <p:nvSpPr>
          <p:cNvPr id="33" name="Text 31"/>
          <p:cNvSpPr/>
          <p:nvPr/>
        </p:nvSpPr>
        <p:spPr>
          <a:xfrm>
            <a:off x="4526280" y="4983480"/>
            <a:ext cx="3108960" cy="868680"/>
          </a:xfrm>
          <a:prstGeom prst="rect">
            <a:avLst/>
          </a:prstGeom>
          <a:noFill/>
          <a:ln/>
        </p:spPr>
        <p:txBody>
          <a:bodyPr wrap="square" rtlCol="0" anchor="t"/>
          <a:lstStyle/>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Can't be sure. Verify another way.</a:t>
            </a:r>
            <a:endParaRPr lang="en-US" sz="1400" dirty="0"/>
          </a:p>
        </p:txBody>
      </p:sp>
      <p:sp>
        <p:nvSpPr>
          <p:cNvPr id="34" name="Shape 32"/>
          <p:cNvSpPr/>
          <p:nvPr/>
        </p:nvSpPr>
        <p:spPr>
          <a:xfrm>
            <a:off x="8046720" y="4343400"/>
            <a:ext cx="3566160" cy="1645920"/>
          </a:xfrm>
          <a:prstGeom prst="roundRect">
            <a:avLst>
              <a:gd name="adj" fmla="val 1000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35" name="Text 33"/>
          <p:cNvSpPr/>
          <p:nvPr/>
        </p:nvSpPr>
        <p:spPr>
          <a:xfrm>
            <a:off x="8275320" y="4507992"/>
            <a:ext cx="3108960" cy="457200"/>
          </a:xfrm>
          <a:prstGeom prst="rect">
            <a:avLst/>
          </a:prstGeom>
          <a:noFill/>
          <a:ln/>
        </p:spPr>
        <p:txBody>
          <a:bodyPr wrap="square" rtlCol="0" anchor="t"/>
          <a:lstStyle/>
          <a:p>
            <a:pPr indent="0" marL="0">
              <a:buNone/>
            </a:pPr>
            <a:r>
              <a:rPr lang="en-US" sz="1800" dirty="0">
                <a:solidFill>
                  <a:srgbClr val="C0281D"/>
                </a:solidFill>
                <a:latin typeface="Segoe UI Semibold" pitchFamily="34" charset="0"/>
                <a:ea typeface="Segoe UI Semibold" pitchFamily="34" charset="-122"/>
                <a:cs typeface="Segoe UI Semibold" pitchFamily="34" charset="-120"/>
              </a:rPr>
              <a:t>FAKE</a:t>
            </a:r>
            <a:endParaRPr lang="en-US" sz="1800" dirty="0"/>
          </a:p>
        </p:txBody>
      </p:sp>
      <p:sp>
        <p:nvSpPr>
          <p:cNvPr id="36" name="Text 34"/>
          <p:cNvSpPr/>
          <p:nvPr/>
        </p:nvSpPr>
        <p:spPr>
          <a:xfrm>
            <a:off x="8275320" y="4983480"/>
            <a:ext cx="3108960" cy="868680"/>
          </a:xfrm>
          <a:prstGeom prst="rect">
            <a:avLst/>
          </a:prstGeom>
          <a:noFill/>
          <a:ln/>
        </p:spPr>
        <p:txBody>
          <a:bodyPr wrap="square" rtlCol="0" anchor="t"/>
          <a:lstStyle/>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Likely AI-cloned. Hang up, call back on a saved number.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BEATING THE SHORTCUTS</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Proving the model listens to the voice, not the silence</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1737360"/>
            <a:ext cx="5394960" cy="2103120"/>
          </a:xfrm>
          <a:prstGeom prst="roundRect">
            <a:avLst>
              <a:gd name="adj" fmla="val 7826"/>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1901952"/>
            <a:ext cx="4937760" cy="457200"/>
          </a:xfrm>
          <a:prstGeom prst="rect">
            <a:avLst/>
          </a:prstGeom>
          <a:noFill/>
          <a:ln/>
        </p:spPr>
        <p:txBody>
          <a:bodyPr wrap="square" rtlCol="0" anchor="t"/>
          <a:lstStyle/>
          <a:p>
            <a:pPr indent="0" marL="0">
              <a:buNone/>
            </a:pPr>
            <a:r>
              <a:rPr lang="en-US" sz="1800" dirty="0">
                <a:solidFill>
                  <a:srgbClr val="9A5A00"/>
                </a:solidFill>
                <a:latin typeface="Segoe UI Semibold" pitchFamily="34" charset="0"/>
                <a:ea typeface="Segoe UI Semibold" pitchFamily="34" charset="-122"/>
                <a:cs typeface="Segoe UI Semibold" pitchFamily="34" charset="-120"/>
              </a:rPr>
              <a:t>Shortcut-only classifier</a:t>
            </a:r>
            <a:endParaRPr lang="en-US" sz="1800" dirty="0"/>
          </a:p>
        </p:txBody>
      </p:sp>
      <p:sp>
        <p:nvSpPr>
          <p:cNvPr id="7" name="Text 5"/>
          <p:cNvSpPr/>
          <p:nvPr/>
        </p:nvSpPr>
        <p:spPr>
          <a:xfrm>
            <a:off x="777240" y="2377440"/>
            <a:ext cx="4937760" cy="1325880"/>
          </a:xfrm>
          <a:prstGeom prst="rect">
            <a:avLst/>
          </a:prstGeom>
          <a:noFill/>
          <a:ln/>
        </p:spPr>
        <p:txBody>
          <a:bodyPr wrap="square" rtlCol="0" anchor="t"/>
          <a:lstStyle/>
          <a:p>
            <a:pPr indent="0" marL="0">
              <a:spcAft>
                <a:spcPts val="400"/>
              </a:spcAft>
              <a:buNone/>
            </a:pPr>
            <a:r>
              <a:rPr lang="en-US" sz="1600" dirty="0">
                <a:solidFill>
                  <a:srgbClr val="526270"/>
                </a:solidFill>
                <a:latin typeface="Segoe UI" pitchFamily="34" charset="0"/>
                <a:ea typeface="Segoe UI" pitchFamily="34" charset="-122"/>
                <a:cs typeface="Segoe UI" pitchFamily="34" charset="-120"/>
              </a:rPr>
              <a:t>Uses only duration, silence and loudness.</a:t>
            </a:r>
            <a:endParaRPr lang="en-US" sz="1600" dirty="0"/>
          </a:p>
          <a:p>
            <a:pPr indent="0" marL="0">
              <a:spcAft>
                <a:spcPts val="400"/>
              </a:spcAft>
              <a:buNone/>
            </a:pPr>
            <a:r>
              <a:rPr lang="en-US" sz="1600" dirty="0">
                <a:solidFill>
                  <a:srgbClr val="526270"/>
                </a:solidFill>
                <a:latin typeface="Segoe UI" pitchFamily="34" charset="0"/>
                <a:ea typeface="Segoe UI" pitchFamily="34" charset="-122"/>
                <a:cs typeface="Segoe UI" pitchFamily="34" charset="-120"/>
              </a:rPr>
              <a:t>EER on unseen speakers: 47.0%</a:t>
            </a:r>
            <a:endParaRPr lang="en-US" sz="1600" dirty="0"/>
          </a:p>
        </p:txBody>
      </p:sp>
      <p:sp>
        <p:nvSpPr>
          <p:cNvPr id="8" name="Shape 6"/>
          <p:cNvSpPr/>
          <p:nvPr/>
        </p:nvSpPr>
        <p:spPr>
          <a:xfrm>
            <a:off x="6217920" y="1737360"/>
            <a:ext cx="5394960" cy="2103120"/>
          </a:xfrm>
          <a:prstGeom prst="roundRect">
            <a:avLst>
              <a:gd name="adj" fmla="val 7826"/>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9" name="Text 7"/>
          <p:cNvSpPr/>
          <p:nvPr/>
        </p:nvSpPr>
        <p:spPr>
          <a:xfrm>
            <a:off x="6446520" y="1901952"/>
            <a:ext cx="493776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Our score vs shortcut features</a:t>
            </a:r>
            <a:endParaRPr lang="en-US" sz="1800" dirty="0"/>
          </a:p>
        </p:txBody>
      </p:sp>
      <p:sp>
        <p:nvSpPr>
          <p:cNvPr id="10" name="Text 8"/>
          <p:cNvSpPr/>
          <p:nvPr/>
        </p:nvSpPr>
        <p:spPr>
          <a:xfrm>
            <a:off x="6446520" y="2377440"/>
            <a:ext cx="4937760" cy="1325880"/>
          </a:xfrm>
          <a:prstGeom prst="rect">
            <a:avLst/>
          </a:prstGeom>
          <a:noFill/>
          <a:ln/>
        </p:spPr>
        <p:txBody>
          <a:bodyPr wrap="square" rtlCol="0" anchor="t"/>
          <a:lstStyle/>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Correlation (0 = unrelated):</a:t>
            </a: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duration: 0.17</a:t>
            </a: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total silence: -0.25</a:t>
            </a: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leading silence: -0.27</a:t>
            </a: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loudness db: -0.34</a:t>
            </a:r>
            <a:endParaRPr lang="en-US" sz="1400" dirty="0"/>
          </a:p>
        </p:txBody>
      </p:sp>
      <p:sp>
        <p:nvSpPr>
          <p:cNvPr id="11" name="Shape 9"/>
          <p:cNvSpPr/>
          <p:nvPr/>
        </p:nvSpPr>
        <p:spPr>
          <a:xfrm>
            <a:off x="548640" y="4114800"/>
            <a:ext cx="11064240" cy="1920240"/>
          </a:xfrm>
          <a:prstGeom prst="roundRect">
            <a:avLst>
              <a:gd name="adj" fmla="val 8571"/>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2" name="Text 10"/>
          <p:cNvSpPr/>
          <p:nvPr/>
        </p:nvSpPr>
        <p:spPr>
          <a:xfrm>
            <a:off x="777240" y="4279392"/>
            <a:ext cx="106070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What we do about it</a:t>
            </a:r>
            <a:endParaRPr lang="en-US" sz="1800" dirty="0"/>
          </a:p>
        </p:txBody>
      </p:sp>
      <p:sp>
        <p:nvSpPr>
          <p:cNvPr id="13" name="Text 11"/>
          <p:cNvSpPr/>
          <p:nvPr/>
        </p:nvSpPr>
        <p:spPr>
          <a:xfrm>
            <a:off x="777240" y="4754880"/>
            <a:ext cx="10607040" cy="114300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Every clip is silence-trimmed and loudness-normalised before the model sees it, so neither carries any information. Training also sees phone-line versions (8 kHz, μ-law codec, noise) so call audio does not confuse 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RESULTS</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Tested only on speakers and cloners it never saw</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023360"/>
                <a:gridCol w="4114800"/>
                <a:gridCol w="1463040"/>
                <a:gridCol w="1463040"/>
              </a:tblGrid>
              <a:tr h="384048">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Test</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What it proves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EER</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n</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r>
              <a:tr h="384048">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In-the-Wild, unseen speakers, 4 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Works on people it never heard</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2.3%</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4026</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Same, 2 s clips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Very short evidence</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2.6%</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4026</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Same, 10 s clips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More evidence</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2.3%</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4026</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Same, phone-line audio</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Survives a phone call</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2.9%</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4026</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Unseen cloner: KOKORO</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Never in training</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0.1%</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46</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Unseen cloner: RVC</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Never in training</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1.0%</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97</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Unseen cloner: SNAC</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Never in training</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8.7%</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300</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bl>
          </a:graphicData>
        </a:graphic>
      </p:graphicFrame>
      <p:sp>
        <p:nvSpPr>
          <p:cNvPr id="6" name="Text 3"/>
          <p:cNvSpPr/>
          <p:nvPr/>
        </p:nvSpPr>
        <p:spPr>
          <a:xfrm>
            <a:off x="548640" y="5897880"/>
            <a:ext cx="11064240" cy="457200"/>
          </a:xfrm>
          <a:prstGeom prst="rect">
            <a:avLst/>
          </a:prstGeom>
          <a:noFill/>
          <a:ln/>
        </p:spPr>
        <p:txBody>
          <a:bodyPr wrap="square" rtlCol="0" anchor="ctr"/>
          <a:lstStyle/>
          <a:p>
            <a:pPr indent="0" marL="0">
              <a:buNone/>
            </a:pPr>
            <a:r>
              <a:rPr lang="en-US" sz="1100" dirty="0">
                <a:solidFill>
                  <a:srgbClr val="526270"/>
                </a:solidFill>
                <a:latin typeface="Segoe UI" pitchFamily="34" charset="0"/>
                <a:ea typeface="Segoe UI" pitchFamily="34" charset="-122"/>
                <a:cs typeface="Segoe UI" pitchFamily="34" charset="-120"/>
              </a:rPr>
              <a:t>EER = equal error rate: real voices called fake = fake voices called real. Lower is better; 50% is a coin toss. Every number is produced by scripts in the repo (runs/*.json).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CLOSING THE MODERN-VOICE GAP</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Modern AI voices and replayed audio</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840480"/>
                <a:gridCol w="3383280"/>
                <a:gridCol w="1097280"/>
                <a:gridCol w="1463040"/>
                <a:gridCol w="1280160"/>
              </a:tblGrid>
              <a:tr h="384048">
                <a:tc>
                  <a:txBody>
                    <a:bodyPr/>
                    <a:lstStyle/>
                    <a:p>
                      <a:pPr indent="0" marL="0">
                        <a:buNone/>
                      </a:pPr>
                      <a:r>
                        <a:rPr lang="en-US" sz="1200" b="1" dirty="0">
                          <a:solidFill>
                            <a:srgbClr val="0F6B58"/>
                          </a:solidFill>
                          <a:latin typeface="Segoe UI" pitchFamily="34" charset="0"/>
                          <a:ea typeface="Segoe UI" pitchFamily="34" charset="-122"/>
                          <a:cs typeface="Segoe UI" pitchFamily="34" charset="-120"/>
                        </a:rPr>
                        <a:t>Test (never seen in training)</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200" b="1" dirty="0">
                          <a:solidFill>
                            <a:srgbClr val="0F6B58"/>
                          </a:solidFill>
                          <a:latin typeface="Segoe UI" pitchFamily="34" charset="0"/>
                          <a:ea typeface="Segoe UI" pitchFamily="34" charset="-122"/>
                          <a:cs typeface="Segoe UI" pitchFamily="34" charset="-120"/>
                        </a:rPr>
                        <a:t>Why it matters</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200" b="1" dirty="0">
                          <a:solidFill>
                            <a:srgbClr val="0F6B58"/>
                          </a:solidFill>
                          <a:latin typeface="Segoe UI" pitchFamily="34" charset="0"/>
                          <a:ea typeface="Segoe UI" pitchFamily="34" charset="-122"/>
                          <a:cs typeface="Segoe UI" pitchFamily="34" charset="-120"/>
                        </a:rPr>
                        <a:t>EER</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200" b="1" dirty="0">
                          <a:solidFill>
                            <a:srgbClr val="0F6B58"/>
                          </a:solidFill>
                          <a:latin typeface="Segoe UI" pitchFamily="34" charset="0"/>
                          <a:ea typeface="Segoe UI" pitchFamily="34" charset="-122"/>
                          <a:cs typeface="Segoe UI" pitchFamily="34" charset="-120"/>
                        </a:rPr>
                        <a:t>Flagged FAKE</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200" b="1" dirty="0">
                          <a:solidFill>
                            <a:srgbClr val="0F6B58"/>
                          </a:solidFill>
                          <a:latin typeface="Segoe UI" pitchFamily="34" charset="0"/>
                          <a:ea typeface="Segoe UI" pitchFamily="34" charset="-122"/>
                          <a:cs typeface="Segoe UI" pitchFamily="34" charset="-120"/>
                        </a:rPr>
                        <a:t>n fake</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r>
              <a:tr h="384048">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Unseen modern TTS voices (Microsoft neural, Kokoro)</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GPT / Gemini-class quality</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0.5%</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98.0%</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204</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Same voices played through a speaker into a mic</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How a scam call is overheard</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10.3%</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93.1%</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204</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In-the-Wild, unseen speakers</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Internet deepfakes</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2.0%</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97.1%</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1687</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Clean real speech (LibriSpeech)</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Real voices must not be flagged</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false alarm 0.0%</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450 real</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384048">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Clean real speech, replayed</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Real voices must not be flagged</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false alarm 18.9%</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200" dirty="0">
                          <a:solidFill>
                            <a:srgbClr val="1E2A33"/>
                          </a:solidFill>
                          <a:latin typeface="Segoe UI" pitchFamily="34" charset="0"/>
                          <a:ea typeface="Segoe UI" pitchFamily="34" charset="-122"/>
                          <a:cs typeface="Segoe UI" pitchFamily="34" charset="-120"/>
                        </a:rPr>
                        <a:t>450 real</a:t>
                      </a:r>
                      <a:endParaRPr lang="en-US" sz="12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bl>
          </a:graphicData>
        </a:graphic>
      </p:graphicFrame>
      <p:sp>
        <p:nvSpPr>
          <p:cNvPr id="6" name="Text 3"/>
          <p:cNvSpPr/>
          <p:nvPr/>
        </p:nvSpPr>
        <p:spPr>
          <a:xfrm>
            <a:off x="548640" y="5669280"/>
            <a:ext cx="11064240" cy="548640"/>
          </a:xfrm>
          <a:prstGeom prst="rect">
            <a:avLst/>
          </a:prstGeom>
          <a:noFill/>
          <a:ln/>
        </p:spPr>
        <p:txBody>
          <a:bodyPr wrap="square" rtlCol="0" anchor="ctr"/>
          <a:lstStyle/>
          <a:p>
            <a:pPr indent="0" marL="0">
              <a:buNone/>
            </a:pPr>
            <a:r>
              <a:rPr lang="en-US" sz="1100" dirty="0">
                <a:solidFill>
                  <a:srgbClr val="526270"/>
                </a:solidFill>
                <a:latin typeface="Segoe UI" pitchFamily="34" charset="0"/>
                <a:ea typeface="Segoe UI" pitchFamily="34" charset="-122"/>
                <a:cs typeface="Segoe UI" pitchFamily="34" charset="-120"/>
              </a:rPr>
              <a:t>First model (In-the-Wild only) called GPT/Gemini voices REAL. We added modern neural TTS and simulated speaker-to-mic replay to training, holding out 25% of voices for this test.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UNSEEN CLONERS</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Share of clones flagged FAKE, by cloning tool</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graphicFrame>
        <p:nvGraphicFramePr>
          <p:cNvPr id="5" name="Chart 0" descr=""/>
          <p:cNvGraphicFramePr/>
          <p:nvPr/>
        </p:nvGraphicFramePr>
        <p:xfrm>
          <a:off x="548640" y="15544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1554480"/>
            <a:ext cx="3749040" cy="4572000"/>
          </a:xfrm>
          <a:prstGeom prst="roundRect">
            <a:avLst>
              <a:gd name="adj" fmla="val 439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7" name="Text 4"/>
          <p:cNvSpPr/>
          <p:nvPr/>
        </p:nvSpPr>
        <p:spPr>
          <a:xfrm>
            <a:off x="8092440" y="1719072"/>
            <a:ext cx="32918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The four tools</a:t>
            </a:r>
            <a:endParaRPr lang="en-US" sz="1800" dirty="0"/>
          </a:p>
        </p:txBody>
      </p:sp>
      <p:sp>
        <p:nvSpPr>
          <p:cNvPr id="8" name="Text 5"/>
          <p:cNvSpPr/>
          <p:nvPr/>
        </p:nvSpPr>
        <p:spPr>
          <a:xfrm>
            <a:off x="8092440" y="2194560"/>
            <a:ext cx="3291840" cy="379476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SNAC: real voice passed through a neural codec (vocoder fingerprint only)</a:t>
            </a:r>
            <a:endParaRPr lang="en-US" sz="1200" dirty="0"/>
          </a:p>
          <a:p>
            <a:pPr indent="0" marL="0">
              <a:spcAft>
                <a:spcPts val="400"/>
              </a:spcAft>
              <a:buNone/>
            </a:pPr>
            <a:endParaRPr lang="en-US" sz="1200" dirty="0"/>
          </a:p>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Kokoro: open TTS, English + Hindi voices</a:t>
            </a:r>
            <a:endParaRPr lang="en-US" sz="1200" dirty="0"/>
          </a:p>
          <a:p>
            <a:pPr indent="0" marL="0">
              <a:spcAft>
                <a:spcPts val="400"/>
              </a:spcAft>
              <a:buNone/>
            </a:pPr>
            <a:endParaRPr lang="en-US" sz="1200" dirty="0"/>
          </a:p>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Veena: Indian Hindi/Hinglish TTS</a:t>
            </a:r>
            <a:endParaRPr lang="en-US" sz="1200" dirty="0"/>
          </a:p>
          <a:p>
            <a:pPr indent="0" marL="0">
              <a:spcAft>
                <a:spcPts val="400"/>
              </a:spcAft>
              <a:buNone/>
            </a:pPr>
            <a:endParaRPr lang="en-US" sz="1200" dirty="0"/>
          </a:p>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RVC: voice conversion into a team member's voice (with consent)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PHASE 2 · R1</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Survives phone lines, codecs and noise</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graphicFrame>
        <p:nvGraphicFramePr>
          <p:cNvPr id="5" name="Chart 0" descr=""/>
          <p:cNvGraphicFramePr/>
          <p:nvPr/>
        </p:nvGraphicFramePr>
        <p:xfrm>
          <a:off x="548640" y="155448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46720" y="1554480"/>
            <a:ext cx="3566160" cy="2194560"/>
          </a:xfrm>
          <a:prstGeom prst="roundRect">
            <a:avLst>
              <a:gd name="adj" fmla="val 750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7" name="Text 4"/>
          <p:cNvSpPr/>
          <p:nvPr/>
        </p:nvSpPr>
        <p:spPr>
          <a:xfrm>
            <a:off x="8275320" y="1719072"/>
            <a:ext cx="3108960" cy="457200"/>
          </a:xfrm>
          <a:prstGeom prst="rect">
            <a:avLst/>
          </a:prstGeom>
          <a:noFill/>
          <a:ln/>
        </p:spPr>
        <p:txBody>
          <a:bodyPr wrap="square" rtlCol="0" anchor="t"/>
          <a:lstStyle/>
          <a:p>
            <a:pPr indent="0" marL="0">
              <a:buNone/>
            </a:pPr>
            <a:r>
              <a:rPr lang="en-US" sz="1800" dirty="0">
                <a:solidFill>
                  <a:srgbClr val="157A43"/>
                </a:solidFill>
                <a:latin typeface="Segoe UI Semibold" pitchFamily="34" charset="0"/>
                <a:ea typeface="Segoe UI Semibold" pitchFamily="34" charset="-122"/>
                <a:cs typeface="Segoe UI Semibold" pitchFamily="34" charset="-120"/>
              </a:rPr>
              <a:t>Target met</a:t>
            </a:r>
            <a:endParaRPr lang="en-US" sz="1800" dirty="0"/>
          </a:p>
        </p:txBody>
      </p:sp>
      <p:sp>
        <p:nvSpPr>
          <p:cNvPr id="8" name="Text 5"/>
          <p:cNvSpPr/>
          <p:nvPr/>
        </p:nvSpPr>
        <p:spPr>
          <a:xfrm>
            <a:off x="8275320" y="2194560"/>
            <a:ext cx="3108960" cy="141732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Worst case: noise = 1.94× clean EER</a:t>
            </a:r>
            <a:endParaRPr lang="en-US" sz="1500" dirty="0"/>
          </a:p>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Target ≤ 2.5×</a:t>
            </a:r>
            <a:endParaRPr lang="en-US" sz="1500" dirty="0"/>
          </a:p>
        </p:txBody>
      </p:sp>
      <p:sp>
        <p:nvSpPr>
          <p:cNvPr id="9" name="Shape 6"/>
          <p:cNvSpPr/>
          <p:nvPr/>
        </p:nvSpPr>
        <p:spPr>
          <a:xfrm>
            <a:off x="8046720" y="3977640"/>
            <a:ext cx="3566160" cy="2148840"/>
          </a:xfrm>
          <a:prstGeom prst="roundRect">
            <a:avLst>
              <a:gd name="adj" fmla="val 766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0" name="Text 7"/>
          <p:cNvSpPr/>
          <p:nvPr/>
        </p:nvSpPr>
        <p:spPr>
          <a:xfrm>
            <a:off x="8275320" y="4142232"/>
            <a:ext cx="310896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How</a:t>
            </a:r>
            <a:endParaRPr lang="en-US" sz="1800" dirty="0"/>
          </a:p>
        </p:txBody>
      </p:sp>
      <p:sp>
        <p:nvSpPr>
          <p:cNvPr id="11" name="Text 8"/>
          <p:cNvSpPr/>
          <p:nvPr/>
        </p:nvSpPr>
        <p:spPr>
          <a:xfrm>
            <a:off x="8275320" y="4617720"/>
            <a:ext cx="3108960" cy="137160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Real encoders via ffmpeg (AMR-NB = mobile calls, Opus = WhatsApp/VoIP). Training sees random channels on real and fake alike.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PHASE 2 · R2</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Finding the faked seconds inside a real call</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1554480"/>
            <a:ext cx="3474720" cy="2103120"/>
          </a:xfrm>
          <a:prstGeom prst="roundRect">
            <a:avLst>
              <a:gd name="adj" fmla="val 7826"/>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1719072"/>
            <a:ext cx="3017520" cy="457200"/>
          </a:xfrm>
          <a:prstGeom prst="rect">
            <a:avLst/>
          </a:prstGeom>
          <a:noFill/>
          <a:ln/>
        </p:spPr>
        <p:txBody>
          <a:bodyPr wrap="square" rtlCol="0" anchor="t"/>
          <a:lstStyle/>
          <a:p>
            <a:pPr indent="0" marL="0">
              <a:buNone/>
            </a:pPr>
            <a:r>
              <a:rPr lang="en-US" sz="2600" dirty="0">
                <a:solidFill>
                  <a:srgbClr val="0F6B58"/>
                </a:solidFill>
                <a:latin typeface="Segoe UI Semibold" pitchFamily="34" charset="0"/>
                <a:ea typeface="Segoe UI Semibold" pitchFamily="34" charset="-122"/>
                <a:cs typeface="Segoe UI Semibold" pitchFamily="34" charset="-120"/>
              </a:rPr>
              <a:t>F1 80.5%</a:t>
            </a:r>
            <a:endParaRPr lang="en-US" sz="2600" dirty="0"/>
          </a:p>
        </p:txBody>
      </p:sp>
      <p:sp>
        <p:nvSpPr>
          <p:cNvPr id="7" name="Text 5"/>
          <p:cNvSpPr/>
          <p:nvPr/>
        </p:nvSpPr>
        <p:spPr>
          <a:xfrm>
            <a:off x="777240" y="2194560"/>
            <a:ext cx="3017520" cy="1325880"/>
          </a:xfrm>
          <a:prstGeom prst="rect">
            <a:avLst/>
          </a:prstGeom>
          <a:noFill/>
          <a:ln/>
        </p:spPr>
        <p:txBody>
          <a:bodyPr wrap="square" rtlCol="0" anchor="t"/>
          <a:lstStyle/>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at 0.5 s resolution on 100 partial fakes</a:t>
            </a: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precision 79.9% · recall 81.0%</a:t>
            </a:r>
            <a:endParaRPr lang="en-US" sz="1400" dirty="0"/>
          </a:p>
        </p:txBody>
      </p:sp>
      <p:sp>
        <p:nvSpPr>
          <p:cNvPr id="8" name="Shape 6"/>
          <p:cNvSpPr/>
          <p:nvPr/>
        </p:nvSpPr>
        <p:spPr>
          <a:xfrm>
            <a:off x="548640" y="3840480"/>
            <a:ext cx="3474720" cy="2286000"/>
          </a:xfrm>
          <a:prstGeom prst="roundRect">
            <a:avLst>
              <a:gd name="adj" fmla="val 720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9" name="Text 7"/>
          <p:cNvSpPr/>
          <p:nvPr/>
        </p:nvSpPr>
        <p:spPr>
          <a:xfrm>
            <a:off x="777240" y="4005072"/>
            <a:ext cx="301752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Partial fakes</a:t>
            </a:r>
            <a:endParaRPr lang="en-US" sz="1800" dirty="0"/>
          </a:p>
        </p:txBody>
      </p:sp>
      <p:sp>
        <p:nvSpPr>
          <p:cNvPr id="10" name="Text 8"/>
          <p:cNvSpPr/>
          <p:nvPr/>
        </p:nvSpPr>
        <p:spPr>
          <a:xfrm>
            <a:off x="777240" y="4480560"/>
            <a:ext cx="3017520" cy="150876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Real clip of a speaker with 1–3 s replaced by a fake of the same speaker, loudness-matched, 20 ms crossfade. Threshold set on 60 separate calibration fakes.</a:t>
            </a:r>
            <a:endParaRPr lang="en-US" sz="1200" dirty="0"/>
          </a:p>
        </p:txBody>
      </p:sp>
      <p:sp>
        <p:nvSpPr>
          <p:cNvPr id="11" name="Text 9"/>
          <p:cNvSpPr/>
          <p:nvPr/>
        </p:nvSpPr>
        <p:spPr>
          <a:xfrm>
            <a:off x="4389120" y="1737360"/>
            <a:ext cx="7223760" cy="320040"/>
          </a:xfrm>
          <a:prstGeom prst="rect">
            <a:avLst/>
          </a:prstGeom>
          <a:noFill/>
          <a:ln/>
        </p:spPr>
        <p:txBody>
          <a:bodyPr wrap="square" rtlCol="0" anchor="ctr"/>
          <a:lstStyle/>
          <a:p>
            <a:pPr indent="0" marL="0">
              <a:buNone/>
            </a:pPr>
            <a:r>
              <a:rPr lang="en-US" sz="1200" dirty="0">
                <a:solidFill>
                  <a:srgbClr val="1E2A33"/>
                </a:solidFill>
                <a:latin typeface="Segoe UI" pitchFamily="34" charset="0"/>
                <a:ea typeface="Segoe UI" pitchFamily="34" charset="-122"/>
                <a:cs typeface="Segoe UI" pitchFamily="34" charset="-120"/>
              </a:rPr>
              <a:t>Example 1: true fake 3.5–6.2 s</a:t>
            </a:r>
            <a:endParaRPr lang="en-US" sz="1200" dirty="0"/>
          </a:p>
        </p:txBody>
      </p:sp>
      <p:sp>
        <p:nvSpPr>
          <p:cNvPr id="12" name="Shape 10"/>
          <p:cNvSpPr/>
          <p:nvPr/>
        </p:nvSpPr>
        <p:spPr>
          <a:xfrm>
            <a:off x="4389120" y="2103120"/>
            <a:ext cx="415366" cy="320040"/>
          </a:xfrm>
          <a:prstGeom prst="rect">
            <a:avLst/>
          </a:prstGeom>
          <a:solidFill>
            <a:srgbClr val="DCE3E9"/>
          </a:solidFill>
          <a:ln w="12700">
            <a:solidFill>
              <a:srgbClr val="DCE3E9"/>
            </a:solidFill>
            <a:prstDash val="solid"/>
          </a:ln>
        </p:spPr>
      </p:sp>
      <p:sp>
        <p:nvSpPr>
          <p:cNvPr id="13" name="Shape 11"/>
          <p:cNvSpPr/>
          <p:nvPr/>
        </p:nvSpPr>
        <p:spPr>
          <a:xfrm>
            <a:off x="4389120" y="2487168"/>
            <a:ext cx="415366" cy="320040"/>
          </a:xfrm>
          <a:prstGeom prst="rect">
            <a:avLst/>
          </a:prstGeom>
          <a:solidFill>
            <a:srgbClr val="DCE3E9"/>
          </a:solidFill>
          <a:ln w="12700">
            <a:solidFill>
              <a:srgbClr val="DCE3E9"/>
            </a:solidFill>
            <a:prstDash val="solid"/>
          </a:ln>
        </p:spPr>
      </p:sp>
      <p:sp>
        <p:nvSpPr>
          <p:cNvPr id="14" name="Shape 12"/>
          <p:cNvSpPr/>
          <p:nvPr/>
        </p:nvSpPr>
        <p:spPr>
          <a:xfrm>
            <a:off x="4840605" y="2103120"/>
            <a:ext cx="415366" cy="320040"/>
          </a:xfrm>
          <a:prstGeom prst="rect">
            <a:avLst/>
          </a:prstGeom>
          <a:solidFill>
            <a:srgbClr val="DCE3E9"/>
          </a:solidFill>
          <a:ln w="12700">
            <a:solidFill>
              <a:srgbClr val="DCE3E9"/>
            </a:solidFill>
            <a:prstDash val="solid"/>
          </a:ln>
        </p:spPr>
      </p:sp>
      <p:sp>
        <p:nvSpPr>
          <p:cNvPr id="15" name="Shape 13"/>
          <p:cNvSpPr/>
          <p:nvPr/>
        </p:nvSpPr>
        <p:spPr>
          <a:xfrm>
            <a:off x="4840605" y="2487168"/>
            <a:ext cx="415366" cy="320040"/>
          </a:xfrm>
          <a:prstGeom prst="rect">
            <a:avLst/>
          </a:prstGeom>
          <a:solidFill>
            <a:srgbClr val="DCE3E9"/>
          </a:solidFill>
          <a:ln w="12700">
            <a:solidFill>
              <a:srgbClr val="DCE3E9"/>
            </a:solidFill>
            <a:prstDash val="solid"/>
          </a:ln>
        </p:spPr>
      </p:sp>
      <p:sp>
        <p:nvSpPr>
          <p:cNvPr id="16" name="Shape 14"/>
          <p:cNvSpPr/>
          <p:nvPr/>
        </p:nvSpPr>
        <p:spPr>
          <a:xfrm>
            <a:off x="5292090" y="2103120"/>
            <a:ext cx="415366" cy="320040"/>
          </a:xfrm>
          <a:prstGeom prst="rect">
            <a:avLst/>
          </a:prstGeom>
          <a:solidFill>
            <a:srgbClr val="DCE3E9"/>
          </a:solidFill>
          <a:ln w="12700">
            <a:solidFill>
              <a:srgbClr val="DCE3E9"/>
            </a:solidFill>
            <a:prstDash val="solid"/>
          </a:ln>
        </p:spPr>
      </p:sp>
      <p:sp>
        <p:nvSpPr>
          <p:cNvPr id="17" name="Shape 15"/>
          <p:cNvSpPr/>
          <p:nvPr/>
        </p:nvSpPr>
        <p:spPr>
          <a:xfrm>
            <a:off x="5292090" y="2487168"/>
            <a:ext cx="415366" cy="320040"/>
          </a:xfrm>
          <a:prstGeom prst="rect">
            <a:avLst/>
          </a:prstGeom>
          <a:solidFill>
            <a:srgbClr val="DCE3E9"/>
          </a:solidFill>
          <a:ln w="12700">
            <a:solidFill>
              <a:srgbClr val="DCE3E9"/>
            </a:solidFill>
            <a:prstDash val="solid"/>
          </a:ln>
        </p:spPr>
      </p:sp>
      <p:sp>
        <p:nvSpPr>
          <p:cNvPr id="18" name="Shape 16"/>
          <p:cNvSpPr/>
          <p:nvPr/>
        </p:nvSpPr>
        <p:spPr>
          <a:xfrm>
            <a:off x="5743575" y="2103120"/>
            <a:ext cx="415366" cy="320040"/>
          </a:xfrm>
          <a:prstGeom prst="rect">
            <a:avLst/>
          </a:prstGeom>
          <a:solidFill>
            <a:srgbClr val="DCE3E9"/>
          </a:solidFill>
          <a:ln w="12700">
            <a:solidFill>
              <a:srgbClr val="DCE3E9"/>
            </a:solidFill>
            <a:prstDash val="solid"/>
          </a:ln>
        </p:spPr>
      </p:sp>
      <p:sp>
        <p:nvSpPr>
          <p:cNvPr id="19" name="Shape 17"/>
          <p:cNvSpPr/>
          <p:nvPr/>
        </p:nvSpPr>
        <p:spPr>
          <a:xfrm>
            <a:off x="5743575" y="2487168"/>
            <a:ext cx="415366" cy="320040"/>
          </a:xfrm>
          <a:prstGeom prst="rect">
            <a:avLst/>
          </a:prstGeom>
          <a:solidFill>
            <a:srgbClr val="DCE3E9"/>
          </a:solidFill>
          <a:ln w="12700">
            <a:solidFill>
              <a:srgbClr val="DCE3E9"/>
            </a:solidFill>
            <a:prstDash val="solid"/>
          </a:ln>
        </p:spPr>
      </p:sp>
      <p:sp>
        <p:nvSpPr>
          <p:cNvPr id="20" name="Shape 18"/>
          <p:cNvSpPr/>
          <p:nvPr/>
        </p:nvSpPr>
        <p:spPr>
          <a:xfrm>
            <a:off x="6195060" y="2103120"/>
            <a:ext cx="415366" cy="320040"/>
          </a:xfrm>
          <a:prstGeom prst="rect">
            <a:avLst/>
          </a:prstGeom>
          <a:solidFill>
            <a:srgbClr val="DCE3E9"/>
          </a:solidFill>
          <a:ln w="12700">
            <a:solidFill>
              <a:srgbClr val="DCE3E9"/>
            </a:solidFill>
            <a:prstDash val="solid"/>
          </a:ln>
        </p:spPr>
      </p:sp>
      <p:sp>
        <p:nvSpPr>
          <p:cNvPr id="21" name="Shape 19"/>
          <p:cNvSpPr/>
          <p:nvPr/>
        </p:nvSpPr>
        <p:spPr>
          <a:xfrm>
            <a:off x="6195060" y="2487168"/>
            <a:ext cx="415366" cy="320040"/>
          </a:xfrm>
          <a:prstGeom prst="rect">
            <a:avLst/>
          </a:prstGeom>
          <a:solidFill>
            <a:srgbClr val="DCE3E9"/>
          </a:solidFill>
          <a:ln w="12700">
            <a:solidFill>
              <a:srgbClr val="DCE3E9"/>
            </a:solidFill>
            <a:prstDash val="solid"/>
          </a:ln>
        </p:spPr>
      </p:sp>
      <p:sp>
        <p:nvSpPr>
          <p:cNvPr id="22" name="Shape 20"/>
          <p:cNvSpPr/>
          <p:nvPr/>
        </p:nvSpPr>
        <p:spPr>
          <a:xfrm>
            <a:off x="6646545" y="2103120"/>
            <a:ext cx="415366" cy="320040"/>
          </a:xfrm>
          <a:prstGeom prst="rect">
            <a:avLst/>
          </a:prstGeom>
          <a:solidFill>
            <a:srgbClr val="DCE3E9"/>
          </a:solidFill>
          <a:ln w="12700">
            <a:solidFill>
              <a:srgbClr val="DCE3E9"/>
            </a:solidFill>
            <a:prstDash val="solid"/>
          </a:ln>
        </p:spPr>
      </p:sp>
      <p:sp>
        <p:nvSpPr>
          <p:cNvPr id="23" name="Shape 21"/>
          <p:cNvSpPr/>
          <p:nvPr/>
        </p:nvSpPr>
        <p:spPr>
          <a:xfrm>
            <a:off x="6646545" y="2487168"/>
            <a:ext cx="415366" cy="320040"/>
          </a:xfrm>
          <a:prstGeom prst="rect">
            <a:avLst/>
          </a:prstGeom>
          <a:solidFill>
            <a:srgbClr val="DCE3E9"/>
          </a:solidFill>
          <a:ln w="12700">
            <a:solidFill>
              <a:srgbClr val="DCE3E9"/>
            </a:solidFill>
            <a:prstDash val="solid"/>
          </a:ln>
        </p:spPr>
      </p:sp>
      <p:sp>
        <p:nvSpPr>
          <p:cNvPr id="24" name="Shape 22"/>
          <p:cNvSpPr/>
          <p:nvPr/>
        </p:nvSpPr>
        <p:spPr>
          <a:xfrm>
            <a:off x="7098030" y="2103120"/>
            <a:ext cx="415366" cy="320040"/>
          </a:xfrm>
          <a:prstGeom prst="rect">
            <a:avLst/>
          </a:prstGeom>
          <a:solidFill>
            <a:srgbClr val="DCE3E9"/>
          </a:solidFill>
          <a:ln w="12700">
            <a:solidFill>
              <a:srgbClr val="DCE3E9"/>
            </a:solidFill>
            <a:prstDash val="solid"/>
          </a:ln>
        </p:spPr>
      </p:sp>
      <p:sp>
        <p:nvSpPr>
          <p:cNvPr id="25" name="Shape 23"/>
          <p:cNvSpPr/>
          <p:nvPr/>
        </p:nvSpPr>
        <p:spPr>
          <a:xfrm>
            <a:off x="7098030" y="2487168"/>
            <a:ext cx="415366" cy="320040"/>
          </a:xfrm>
          <a:prstGeom prst="rect">
            <a:avLst/>
          </a:prstGeom>
          <a:solidFill>
            <a:srgbClr val="DCE3E9"/>
          </a:solidFill>
          <a:ln w="12700">
            <a:solidFill>
              <a:srgbClr val="DCE3E9"/>
            </a:solidFill>
            <a:prstDash val="solid"/>
          </a:ln>
        </p:spPr>
      </p:sp>
      <p:sp>
        <p:nvSpPr>
          <p:cNvPr id="26" name="Shape 24"/>
          <p:cNvSpPr/>
          <p:nvPr/>
        </p:nvSpPr>
        <p:spPr>
          <a:xfrm>
            <a:off x="7549515" y="2103120"/>
            <a:ext cx="415366" cy="320040"/>
          </a:xfrm>
          <a:prstGeom prst="rect">
            <a:avLst/>
          </a:prstGeom>
          <a:solidFill>
            <a:srgbClr val="F2C4C0"/>
          </a:solidFill>
          <a:ln w="12700">
            <a:solidFill>
              <a:srgbClr val="F2C4C0"/>
            </a:solidFill>
            <a:prstDash val="solid"/>
          </a:ln>
        </p:spPr>
      </p:sp>
      <p:sp>
        <p:nvSpPr>
          <p:cNvPr id="27" name="Shape 25"/>
          <p:cNvSpPr/>
          <p:nvPr/>
        </p:nvSpPr>
        <p:spPr>
          <a:xfrm>
            <a:off x="7549515" y="2487168"/>
            <a:ext cx="415366" cy="320040"/>
          </a:xfrm>
          <a:prstGeom prst="rect">
            <a:avLst/>
          </a:prstGeom>
          <a:solidFill>
            <a:srgbClr val="DCE3E9"/>
          </a:solidFill>
          <a:ln w="12700">
            <a:solidFill>
              <a:srgbClr val="DCE3E9"/>
            </a:solidFill>
            <a:prstDash val="solid"/>
          </a:ln>
        </p:spPr>
      </p:sp>
      <p:sp>
        <p:nvSpPr>
          <p:cNvPr id="28" name="Shape 26"/>
          <p:cNvSpPr/>
          <p:nvPr/>
        </p:nvSpPr>
        <p:spPr>
          <a:xfrm>
            <a:off x="8001000" y="2103120"/>
            <a:ext cx="415366" cy="320040"/>
          </a:xfrm>
          <a:prstGeom prst="rect">
            <a:avLst/>
          </a:prstGeom>
          <a:solidFill>
            <a:srgbClr val="F2C4C0"/>
          </a:solidFill>
          <a:ln w="12700">
            <a:solidFill>
              <a:srgbClr val="F2C4C0"/>
            </a:solidFill>
            <a:prstDash val="solid"/>
          </a:ln>
        </p:spPr>
      </p:sp>
      <p:sp>
        <p:nvSpPr>
          <p:cNvPr id="29" name="Shape 27"/>
          <p:cNvSpPr/>
          <p:nvPr/>
        </p:nvSpPr>
        <p:spPr>
          <a:xfrm>
            <a:off x="8001000" y="2487168"/>
            <a:ext cx="415366" cy="320040"/>
          </a:xfrm>
          <a:prstGeom prst="rect">
            <a:avLst/>
          </a:prstGeom>
          <a:solidFill>
            <a:srgbClr val="DCE3E9"/>
          </a:solidFill>
          <a:ln w="12700">
            <a:solidFill>
              <a:srgbClr val="DCE3E9"/>
            </a:solidFill>
            <a:prstDash val="solid"/>
          </a:ln>
        </p:spPr>
      </p:sp>
      <p:sp>
        <p:nvSpPr>
          <p:cNvPr id="30" name="Shape 28"/>
          <p:cNvSpPr/>
          <p:nvPr/>
        </p:nvSpPr>
        <p:spPr>
          <a:xfrm>
            <a:off x="8452485" y="2103120"/>
            <a:ext cx="415366" cy="320040"/>
          </a:xfrm>
          <a:prstGeom prst="rect">
            <a:avLst/>
          </a:prstGeom>
          <a:solidFill>
            <a:srgbClr val="F2C4C0"/>
          </a:solidFill>
          <a:ln w="12700">
            <a:solidFill>
              <a:srgbClr val="F2C4C0"/>
            </a:solidFill>
            <a:prstDash val="solid"/>
          </a:ln>
        </p:spPr>
      </p:sp>
      <p:sp>
        <p:nvSpPr>
          <p:cNvPr id="31" name="Shape 29"/>
          <p:cNvSpPr/>
          <p:nvPr/>
        </p:nvSpPr>
        <p:spPr>
          <a:xfrm>
            <a:off x="8452485" y="2487168"/>
            <a:ext cx="415366" cy="320040"/>
          </a:xfrm>
          <a:prstGeom prst="rect">
            <a:avLst/>
          </a:prstGeom>
          <a:solidFill>
            <a:srgbClr val="DCE3E9"/>
          </a:solidFill>
          <a:ln w="12700">
            <a:solidFill>
              <a:srgbClr val="DCE3E9"/>
            </a:solidFill>
            <a:prstDash val="solid"/>
          </a:ln>
        </p:spPr>
      </p:sp>
      <p:sp>
        <p:nvSpPr>
          <p:cNvPr id="32" name="Shape 30"/>
          <p:cNvSpPr/>
          <p:nvPr/>
        </p:nvSpPr>
        <p:spPr>
          <a:xfrm>
            <a:off x="8903970" y="2103120"/>
            <a:ext cx="415366" cy="320040"/>
          </a:xfrm>
          <a:prstGeom prst="rect">
            <a:avLst/>
          </a:prstGeom>
          <a:solidFill>
            <a:srgbClr val="F2C4C0"/>
          </a:solidFill>
          <a:ln w="12700">
            <a:solidFill>
              <a:srgbClr val="F2C4C0"/>
            </a:solidFill>
            <a:prstDash val="solid"/>
          </a:ln>
        </p:spPr>
      </p:sp>
      <p:sp>
        <p:nvSpPr>
          <p:cNvPr id="33" name="Shape 31"/>
          <p:cNvSpPr/>
          <p:nvPr/>
        </p:nvSpPr>
        <p:spPr>
          <a:xfrm>
            <a:off x="8903970" y="2487168"/>
            <a:ext cx="415366" cy="320040"/>
          </a:xfrm>
          <a:prstGeom prst="rect">
            <a:avLst/>
          </a:prstGeom>
          <a:solidFill>
            <a:srgbClr val="DCE3E9"/>
          </a:solidFill>
          <a:ln w="12700">
            <a:solidFill>
              <a:srgbClr val="DCE3E9"/>
            </a:solidFill>
            <a:prstDash val="solid"/>
          </a:ln>
        </p:spPr>
      </p:sp>
      <p:sp>
        <p:nvSpPr>
          <p:cNvPr id="34" name="Shape 32"/>
          <p:cNvSpPr/>
          <p:nvPr/>
        </p:nvSpPr>
        <p:spPr>
          <a:xfrm>
            <a:off x="9355455" y="2103120"/>
            <a:ext cx="415366" cy="320040"/>
          </a:xfrm>
          <a:prstGeom prst="rect">
            <a:avLst/>
          </a:prstGeom>
          <a:solidFill>
            <a:srgbClr val="F2C4C0"/>
          </a:solidFill>
          <a:ln w="12700">
            <a:solidFill>
              <a:srgbClr val="F2C4C0"/>
            </a:solidFill>
            <a:prstDash val="solid"/>
          </a:ln>
        </p:spPr>
      </p:sp>
      <p:sp>
        <p:nvSpPr>
          <p:cNvPr id="35" name="Shape 33"/>
          <p:cNvSpPr/>
          <p:nvPr/>
        </p:nvSpPr>
        <p:spPr>
          <a:xfrm>
            <a:off x="9355455" y="2487168"/>
            <a:ext cx="415366" cy="320040"/>
          </a:xfrm>
          <a:prstGeom prst="rect">
            <a:avLst/>
          </a:prstGeom>
          <a:solidFill>
            <a:srgbClr val="DCE3E9"/>
          </a:solidFill>
          <a:ln w="12700">
            <a:solidFill>
              <a:srgbClr val="DCE3E9"/>
            </a:solidFill>
            <a:prstDash val="solid"/>
          </a:ln>
        </p:spPr>
      </p:sp>
      <p:sp>
        <p:nvSpPr>
          <p:cNvPr id="36" name="Shape 34"/>
          <p:cNvSpPr/>
          <p:nvPr/>
        </p:nvSpPr>
        <p:spPr>
          <a:xfrm>
            <a:off x="9806940" y="2103120"/>
            <a:ext cx="415366" cy="320040"/>
          </a:xfrm>
          <a:prstGeom prst="rect">
            <a:avLst/>
          </a:prstGeom>
          <a:solidFill>
            <a:srgbClr val="DCE3E9"/>
          </a:solidFill>
          <a:ln w="12700">
            <a:solidFill>
              <a:srgbClr val="DCE3E9"/>
            </a:solidFill>
            <a:prstDash val="solid"/>
          </a:ln>
        </p:spPr>
      </p:sp>
      <p:sp>
        <p:nvSpPr>
          <p:cNvPr id="37" name="Shape 35"/>
          <p:cNvSpPr/>
          <p:nvPr/>
        </p:nvSpPr>
        <p:spPr>
          <a:xfrm>
            <a:off x="9806940" y="2487168"/>
            <a:ext cx="415366" cy="320040"/>
          </a:xfrm>
          <a:prstGeom prst="rect">
            <a:avLst/>
          </a:prstGeom>
          <a:solidFill>
            <a:srgbClr val="DCE3E9"/>
          </a:solidFill>
          <a:ln w="12700">
            <a:solidFill>
              <a:srgbClr val="DCE3E9"/>
            </a:solidFill>
            <a:prstDash val="solid"/>
          </a:ln>
        </p:spPr>
      </p:sp>
      <p:sp>
        <p:nvSpPr>
          <p:cNvPr id="38" name="Shape 36"/>
          <p:cNvSpPr/>
          <p:nvPr/>
        </p:nvSpPr>
        <p:spPr>
          <a:xfrm>
            <a:off x="10258425" y="2103120"/>
            <a:ext cx="415366" cy="320040"/>
          </a:xfrm>
          <a:prstGeom prst="rect">
            <a:avLst/>
          </a:prstGeom>
          <a:solidFill>
            <a:srgbClr val="DCE3E9"/>
          </a:solidFill>
          <a:ln w="12700">
            <a:solidFill>
              <a:srgbClr val="DCE3E9"/>
            </a:solidFill>
            <a:prstDash val="solid"/>
          </a:ln>
        </p:spPr>
      </p:sp>
      <p:sp>
        <p:nvSpPr>
          <p:cNvPr id="39" name="Shape 37"/>
          <p:cNvSpPr/>
          <p:nvPr/>
        </p:nvSpPr>
        <p:spPr>
          <a:xfrm>
            <a:off x="10258425" y="2487168"/>
            <a:ext cx="415366" cy="320040"/>
          </a:xfrm>
          <a:prstGeom prst="rect">
            <a:avLst/>
          </a:prstGeom>
          <a:solidFill>
            <a:srgbClr val="DCE3E9"/>
          </a:solidFill>
          <a:ln w="12700">
            <a:solidFill>
              <a:srgbClr val="DCE3E9"/>
            </a:solidFill>
            <a:prstDash val="solid"/>
          </a:ln>
        </p:spPr>
      </p:sp>
      <p:sp>
        <p:nvSpPr>
          <p:cNvPr id="40" name="Shape 38"/>
          <p:cNvSpPr/>
          <p:nvPr/>
        </p:nvSpPr>
        <p:spPr>
          <a:xfrm>
            <a:off x="10709910" y="2103120"/>
            <a:ext cx="415366" cy="320040"/>
          </a:xfrm>
          <a:prstGeom prst="rect">
            <a:avLst/>
          </a:prstGeom>
          <a:solidFill>
            <a:srgbClr val="DCE3E9"/>
          </a:solidFill>
          <a:ln w="12700">
            <a:solidFill>
              <a:srgbClr val="DCE3E9"/>
            </a:solidFill>
            <a:prstDash val="solid"/>
          </a:ln>
        </p:spPr>
      </p:sp>
      <p:sp>
        <p:nvSpPr>
          <p:cNvPr id="41" name="Shape 39"/>
          <p:cNvSpPr/>
          <p:nvPr/>
        </p:nvSpPr>
        <p:spPr>
          <a:xfrm>
            <a:off x="10709910" y="2487168"/>
            <a:ext cx="415366" cy="320040"/>
          </a:xfrm>
          <a:prstGeom prst="rect">
            <a:avLst/>
          </a:prstGeom>
          <a:solidFill>
            <a:srgbClr val="DCE3E9"/>
          </a:solidFill>
          <a:ln w="12700">
            <a:solidFill>
              <a:srgbClr val="DCE3E9"/>
            </a:solidFill>
            <a:prstDash val="solid"/>
          </a:ln>
        </p:spPr>
      </p:sp>
      <p:sp>
        <p:nvSpPr>
          <p:cNvPr id="42" name="Shape 40"/>
          <p:cNvSpPr/>
          <p:nvPr/>
        </p:nvSpPr>
        <p:spPr>
          <a:xfrm>
            <a:off x="11161395" y="2103120"/>
            <a:ext cx="415366" cy="320040"/>
          </a:xfrm>
          <a:prstGeom prst="rect">
            <a:avLst/>
          </a:prstGeom>
          <a:solidFill>
            <a:srgbClr val="DCE3E9"/>
          </a:solidFill>
          <a:ln w="12700">
            <a:solidFill>
              <a:srgbClr val="DCE3E9"/>
            </a:solidFill>
            <a:prstDash val="solid"/>
          </a:ln>
        </p:spPr>
      </p:sp>
      <p:sp>
        <p:nvSpPr>
          <p:cNvPr id="43" name="Shape 41"/>
          <p:cNvSpPr/>
          <p:nvPr/>
        </p:nvSpPr>
        <p:spPr>
          <a:xfrm>
            <a:off x="11161395" y="2487168"/>
            <a:ext cx="415366" cy="320040"/>
          </a:xfrm>
          <a:prstGeom prst="rect">
            <a:avLst/>
          </a:prstGeom>
          <a:solidFill>
            <a:srgbClr val="DCE3E9"/>
          </a:solidFill>
          <a:ln w="12700">
            <a:solidFill>
              <a:srgbClr val="DCE3E9"/>
            </a:solidFill>
            <a:prstDash val="solid"/>
          </a:ln>
        </p:spPr>
      </p:sp>
      <p:sp>
        <p:nvSpPr>
          <p:cNvPr id="44" name="Text 42"/>
          <p:cNvSpPr/>
          <p:nvPr/>
        </p:nvSpPr>
        <p:spPr>
          <a:xfrm>
            <a:off x="4389120" y="3200400"/>
            <a:ext cx="7223760" cy="320040"/>
          </a:xfrm>
          <a:prstGeom prst="rect">
            <a:avLst/>
          </a:prstGeom>
          <a:noFill/>
          <a:ln/>
        </p:spPr>
        <p:txBody>
          <a:bodyPr wrap="square" rtlCol="0" anchor="ctr"/>
          <a:lstStyle/>
          <a:p>
            <a:pPr indent="0" marL="0">
              <a:buNone/>
            </a:pPr>
            <a:r>
              <a:rPr lang="en-US" sz="1200" dirty="0">
                <a:solidFill>
                  <a:srgbClr val="1E2A33"/>
                </a:solidFill>
                <a:latin typeface="Segoe UI" pitchFamily="34" charset="0"/>
                <a:ea typeface="Segoe UI" pitchFamily="34" charset="-122"/>
                <a:cs typeface="Segoe UI" pitchFamily="34" charset="-120"/>
              </a:rPr>
              <a:t>Example 2: true fake 1.0–3.6 s</a:t>
            </a:r>
            <a:endParaRPr lang="en-US" sz="1200" dirty="0"/>
          </a:p>
        </p:txBody>
      </p:sp>
      <p:sp>
        <p:nvSpPr>
          <p:cNvPr id="45" name="Shape 43"/>
          <p:cNvSpPr/>
          <p:nvPr/>
        </p:nvSpPr>
        <p:spPr>
          <a:xfrm>
            <a:off x="4389120" y="3566160"/>
            <a:ext cx="443057" cy="320040"/>
          </a:xfrm>
          <a:prstGeom prst="rect">
            <a:avLst/>
          </a:prstGeom>
          <a:solidFill>
            <a:srgbClr val="DCE3E9"/>
          </a:solidFill>
          <a:ln w="12700">
            <a:solidFill>
              <a:srgbClr val="DCE3E9"/>
            </a:solidFill>
            <a:prstDash val="solid"/>
          </a:ln>
        </p:spPr>
      </p:sp>
      <p:sp>
        <p:nvSpPr>
          <p:cNvPr id="46" name="Shape 44"/>
          <p:cNvSpPr/>
          <p:nvPr/>
        </p:nvSpPr>
        <p:spPr>
          <a:xfrm>
            <a:off x="4389120" y="3950208"/>
            <a:ext cx="443057" cy="320040"/>
          </a:xfrm>
          <a:prstGeom prst="rect">
            <a:avLst/>
          </a:prstGeom>
          <a:solidFill>
            <a:srgbClr val="DCE3E9"/>
          </a:solidFill>
          <a:ln w="12700">
            <a:solidFill>
              <a:srgbClr val="DCE3E9"/>
            </a:solidFill>
            <a:prstDash val="solid"/>
          </a:ln>
        </p:spPr>
      </p:sp>
      <p:sp>
        <p:nvSpPr>
          <p:cNvPr id="47" name="Shape 45"/>
          <p:cNvSpPr/>
          <p:nvPr/>
        </p:nvSpPr>
        <p:spPr>
          <a:xfrm>
            <a:off x="4870704" y="3566160"/>
            <a:ext cx="443057" cy="320040"/>
          </a:xfrm>
          <a:prstGeom prst="rect">
            <a:avLst/>
          </a:prstGeom>
          <a:solidFill>
            <a:srgbClr val="DCE3E9"/>
          </a:solidFill>
          <a:ln w="12700">
            <a:solidFill>
              <a:srgbClr val="DCE3E9"/>
            </a:solidFill>
            <a:prstDash val="solid"/>
          </a:ln>
        </p:spPr>
      </p:sp>
      <p:sp>
        <p:nvSpPr>
          <p:cNvPr id="48" name="Shape 46"/>
          <p:cNvSpPr/>
          <p:nvPr/>
        </p:nvSpPr>
        <p:spPr>
          <a:xfrm>
            <a:off x="4870704" y="3950208"/>
            <a:ext cx="443057" cy="320040"/>
          </a:xfrm>
          <a:prstGeom prst="rect">
            <a:avLst/>
          </a:prstGeom>
          <a:solidFill>
            <a:srgbClr val="DCE3E9"/>
          </a:solidFill>
          <a:ln w="12700">
            <a:solidFill>
              <a:srgbClr val="DCE3E9"/>
            </a:solidFill>
            <a:prstDash val="solid"/>
          </a:ln>
        </p:spPr>
      </p:sp>
      <p:sp>
        <p:nvSpPr>
          <p:cNvPr id="49" name="Shape 47"/>
          <p:cNvSpPr/>
          <p:nvPr/>
        </p:nvSpPr>
        <p:spPr>
          <a:xfrm>
            <a:off x="5352288" y="3566160"/>
            <a:ext cx="443057" cy="320040"/>
          </a:xfrm>
          <a:prstGeom prst="rect">
            <a:avLst/>
          </a:prstGeom>
          <a:solidFill>
            <a:srgbClr val="F2C4C0"/>
          </a:solidFill>
          <a:ln w="12700">
            <a:solidFill>
              <a:srgbClr val="F2C4C0"/>
            </a:solidFill>
            <a:prstDash val="solid"/>
          </a:ln>
        </p:spPr>
      </p:sp>
      <p:sp>
        <p:nvSpPr>
          <p:cNvPr id="50" name="Shape 48"/>
          <p:cNvSpPr/>
          <p:nvPr/>
        </p:nvSpPr>
        <p:spPr>
          <a:xfrm>
            <a:off x="5352288" y="3950208"/>
            <a:ext cx="443057" cy="320040"/>
          </a:xfrm>
          <a:prstGeom prst="rect">
            <a:avLst/>
          </a:prstGeom>
          <a:solidFill>
            <a:srgbClr val="C0281D"/>
          </a:solidFill>
          <a:ln w="12700">
            <a:solidFill>
              <a:srgbClr val="C0281D"/>
            </a:solidFill>
            <a:prstDash val="solid"/>
          </a:ln>
        </p:spPr>
      </p:sp>
      <p:sp>
        <p:nvSpPr>
          <p:cNvPr id="51" name="Shape 49"/>
          <p:cNvSpPr/>
          <p:nvPr/>
        </p:nvSpPr>
        <p:spPr>
          <a:xfrm>
            <a:off x="5833872" y="3566160"/>
            <a:ext cx="443057" cy="320040"/>
          </a:xfrm>
          <a:prstGeom prst="rect">
            <a:avLst/>
          </a:prstGeom>
          <a:solidFill>
            <a:srgbClr val="F2C4C0"/>
          </a:solidFill>
          <a:ln w="12700">
            <a:solidFill>
              <a:srgbClr val="F2C4C0"/>
            </a:solidFill>
            <a:prstDash val="solid"/>
          </a:ln>
        </p:spPr>
      </p:sp>
      <p:sp>
        <p:nvSpPr>
          <p:cNvPr id="52" name="Shape 50"/>
          <p:cNvSpPr/>
          <p:nvPr/>
        </p:nvSpPr>
        <p:spPr>
          <a:xfrm>
            <a:off x="5833872" y="3950208"/>
            <a:ext cx="443057" cy="320040"/>
          </a:xfrm>
          <a:prstGeom prst="rect">
            <a:avLst/>
          </a:prstGeom>
          <a:solidFill>
            <a:srgbClr val="C0281D"/>
          </a:solidFill>
          <a:ln w="12700">
            <a:solidFill>
              <a:srgbClr val="C0281D"/>
            </a:solidFill>
            <a:prstDash val="solid"/>
          </a:ln>
        </p:spPr>
      </p:sp>
      <p:sp>
        <p:nvSpPr>
          <p:cNvPr id="53" name="Shape 51"/>
          <p:cNvSpPr/>
          <p:nvPr/>
        </p:nvSpPr>
        <p:spPr>
          <a:xfrm>
            <a:off x="6315456" y="3566160"/>
            <a:ext cx="443057" cy="320040"/>
          </a:xfrm>
          <a:prstGeom prst="rect">
            <a:avLst/>
          </a:prstGeom>
          <a:solidFill>
            <a:srgbClr val="F2C4C0"/>
          </a:solidFill>
          <a:ln w="12700">
            <a:solidFill>
              <a:srgbClr val="F2C4C0"/>
            </a:solidFill>
            <a:prstDash val="solid"/>
          </a:ln>
        </p:spPr>
      </p:sp>
      <p:sp>
        <p:nvSpPr>
          <p:cNvPr id="54" name="Shape 52"/>
          <p:cNvSpPr/>
          <p:nvPr/>
        </p:nvSpPr>
        <p:spPr>
          <a:xfrm>
            <a:off x="6315456" y="3950208"/>
            <a:ext cx="443057" cy="320040"/>
          </a:xfrm>
          <a:prstGeom prst="rect">
            <a:avLst/>
          </a:prstGeom>
          <a:solidFill>
            <a:srgbClr val="C0281D"/>
          </a:solidFill>
          <a:ln w="12700">
            <a:solidFill>
              <a:srgbClr val="C0281D"/>
            </a:solidFill>
            <a:prstDash val="solid"/>
          </a:ln>
        </p:spPr>
      </p:sp>
      <p:sp>
        <p:nvSpPr>
          <p:cNvPr id="55" name="Shape 53"/>
          <p:cNvSpPr/>
          <p:nvPr/>
        </p:nvSpPr>
        <p:spPr>
          <a:xfrm>
            <a:off x="6797040" y="3566160"/>
            <a:ext cx="443057" cy="320040"/>
          </a:xfrm>
          <a:prstGeom prst="rect">
            <a:avLst/>
          </a:prstGeom>
          <a:solidFill>
            <a:srgbClr val="F2C4C0"/>
          </a:solidFill>
          <a:ln w="12700">
            <a:solidFill>
              <a:srgbClr val="F2C4C0"/>
            </a:solidFill>
            <a:prstDash val="solid"/>
          </a:ln>
        </p:spPr>
      </p:sp>
      <p:sp>
        <p:nvSpPr>
          <p:cNvPr id="56" name="Shape 54"/>
          <p:cNvSpPr/>
          <p:nvPr/>
        </p:nvSpPr>
        <p:spPr>
          <a:xfrm>
            <a:off x="6797040" y="3950208"/>
            <a:ext cx="443057" cy="320040"/>
          </a:xfrm>
          <a:prstGeom prst="rect">
            <a:avLst/>
          </a:prstGeom>
          <a:solidFill>
            <a:srgbClr val="C0281D"/>
          </a:solidFill>
          <a:ln w="12700">
            <a:solidFill>
              <a:srgbClr val="C0281D"/>
            </a:solidFill>
            <a:prstDash val="solid"/>
          </a:ln>
        </p:spPr>
      </p:sp>
      <p:sp>
        <p:nvSpPr>
          <p:cNvPr id="57" name="Shape 55"/>
          <p:cNvSpPr/>
          <p:nvPr/>
        </p:nvSpPr>
        <p:spPr>
          <a:xfrm>
            <a:off x="7278624" y="3566160"/>
            <a:ext cx="443057" cy="320040"/>
          </a:xfrm>
          <a:prstGeom prst="rect">
            <a:avLst/>
          </a:prstGeom>
          <a:solidFill>
            <a:srgbClr val="F2C4C0"/>
          </a:solidFill>
          <a:ln w="12700">
            <a:solidFill>
              <a:srgbClr val="F2C4C0"/>
            </a:solidFill>
            <a:prstDash val="solid"/>
          </a:ln>
        </p:spPr>
      </p:sp>
      <p:sp>
        <p:nvSpPr>
          <p:cNvPr id="58" name="Shape 56"/>
          <p:cNvSpPr/>
          <p:nvPr/>
        </p:nvSpPr>
        <p:spPr>
          <a:xfrm>
            <a:off x="7278624" y="3950208"/>
            <a:ext cx="443057" cy="320040"/>
          </a:xfrm>
          <a:prstGeom prst="rect">
            <a:avLst/>
          </a:prstGeom>
          <a:solidFill>
            <a:srgbClr val="C0281D"/>
          </a:solidFill>
          <a:ln w="12700">
            <a:solidFill>
              <a:srgbClr val="C0281D"/>
            </a:solidFill>
            <a:prstDash val="solid"/>
          </a:ln>
        </p:spPr>
      </p:sp>
      <p:sp>
        <p:nvSpPr>
          <p:cNvPr id="59" name="Shape 57"/>
          <p:cNvSpPr/>
          <p:nvPr/>
        </p:nvSpPr>
        <p:spPr>
          <a:xfrm>
            <a:off x="7760208" y="3566160"/>
            <a:ext cx="443057" cy="320040"/>
          </a:xfrm>
          <a:prstGeom prst="rect">
            <a:avLst/>
          </a:prstGeom>
          <a:solidFill>
            <a:srgbClr val="DCE3E9"/>
          </a:solidFill>
          <a:ln w="12700">
            <a:solidFill>
              <a:srgbClr val="DCE3E9"/>
            </a:solidFill>
            <a:prstDash val="solid"/>
          </a:ln>
        </p:spPr>
      </p:sp>
      <p:sp>
        <p:nvSpPr>
          <p:cNvPr id="60" name="Shape 58"/>
          <p:cNvSpPr/>
          <p:nvPr/>
        </p:nvSpPr>
        <p:spPr>
          <a:xfrm>
            <a:off x="7760208" y="3950208"/>
            <a:ext cx="443057" cy="320040"/>
          </a:xfrm>
          <a:prstGeom prst="rect">
            <a:avLst/>
          </a:prstGeom>
          <a:solidFill>
            <a:srgbClr val="C0281D"/>
          </a:solidFill>
          <a:ln w="12700">
            <a:solidFill>
              <a:srgbClr val="C0281D"/>
            </a:solidFill>
            <a:prstDash val="solid"/>
          </a:ln>
        </p:spPr>
      </p:sp>
      <p:sp>
        <p:nvSpPr>
          <p:cNvPr id="61" name="Shape 59"/>
          <p:cNvSpPr/>
          <p:nvPr/>
        </p:nvSpPr>
        <p:spPr>
          <a:xfrm>
            <a:off x="8241792" y="3566160"/>
            <a:ext cx="443057" cy="320040"/>
          </a:xfrm>
          <a:prstGeom prst="rect">
            <a:avLst/>
          </a:prstGeom>
          <a:solidFill>
            <a:srgbClr val="DCE3E9"/>
          </a:solidFill>
          <a:ln w="12700">
            <a:solidFill>
              <a:srgbClr val="DCE3E9"/>
            </a:solidFill>
            <a:prstDash val="solid"/>
          </a:ln>
        </p:spPr>
      </p:sp>
      <p:sp>
        <p:nvSpPr>
          <p:cNvPr id="62" name="Shape 60"/>
          <p:cNvSpPr/>
          <p:nvPr/>
        </p:nvSpPr>
        <p:spPr>
          <a:xfrm>
            <a:off x="8241792" y="3950208"/>
            <a:ext cx="443057" cy="320040"/>
          </a:xfrm>
          <a:prstGeom prst="rect">
            <a:avLst/>
          </a:prstGeom>
          <a:solidFill>
            <a:srgbClr val="DCE3E9"/>
          </a:solidFill>
          <a:ln w="12700">
            <a:solidFill>
              <a:srgbClr val="DCE3E9"/>
            </a:solidFill>
            <a:prstDash val="solid"/>
          </a:ln>
        </p:spPr>
      </p:sp>
      <p:sp>
        <p:nvSpPr>
          <p:cNvPr id="63" name="Shape 61"/>
          <p:cNvSpPr/>
          <p:nvPr/>
        </p:nvSpPr>
        <p:spPr>
          <a:xfrm>
            <a:off x="8723376" y="3566160"/>
            <a:ext cx="443057" cy="320040"/>
          </a:xfrm>
          <a:prstGeom prst="rect">
            <a:avLst/>
          </a:prstGeom>
          <a:solidFill>
            <a:srgbClr val="DCE3E9"/>
          </a:solidFill>
          <a:ln w="12700">
            <a:solidFill>
              <a:srgbClr val="DCE3E9"/>
            </a:solidFill>
            <a:prstDash val="solid"/>
          </a:ln>
        </p:spPr>
      </p:sp>
      <p:sp>
        <p:nvSpPr>
          <p:cNvPr id="64" name="Shape 62"/>
          <p:cNvSpPr/>
          <p:nvPr/>
        </p:nvSpPr>
        <p:spPr>
          <a:xfrm>
            <a:off x="8723376" y="3950208"/>
            <a:ext cx="443057" cy="320040"/>
          </a:xfrm>
          <a:prstGeom prst="rect">
            <a:avLst/>
          </a:prstGeom>
          <a:solidFill>
            <a:srgbClr val="DCE3E9"/>
          </a:solidFill>
          <a:ln w="12700">
            <a:solidFill>
              <a:srgbClr val="DCE3E9"/>
            </a:solidFill>
            <a:prstDash val="solid"/>
          </a:ln>
        </p:spPr>
      </p:sp>
      <p:sp>
        <p:nvSpPr>
          <p:cNvPr id="65" name="Shape 63"/>
          <p:cNvSpPr/>
          <p:nvPr/>
        </p:nvSpPr>
        <p:spPr>
          <a:xfrm>
            <a:off x="9204960" y="3566160"/>
            <a:ext cx="443057" cy="320040"/>
          </a:xfrm>
          <a:prstGeom prst="rect">
            <a:avLst/>
          </a:prstGeom>
          <a:solidFill>
            <a:srgbClr val="DCE3E9"/>
          </a:solidFill>
          <a:ln w="12700">
            <a:solidFill>
              <a:srgbClr val="DCE3E9"/>
            </a:solidFill>
            <a:prstDash val="solid"/>
          </a:ln>
        </p:spPr>
      </p:sp>
      <p:sp>
        <p:nvSpPr>
          <p:cNvPr id="66" name="Shape 64"/>
          <p:cNvSpPr/>
          <p:nvPr/>
        </p:nvSpPr>
        <p:spPr>
          <a:xfrm>
            <a:off x="9204960" y="3950208"/>
            <a:ext cx="443057" cy="320040"/>
          </a:xfrm>
          <a:prstGeom prst="rect">
            <a:avLst/>
          </a:prstGeom>
          <a:solidFill>
            <a:srgbClr val="DCE3E9"/>
          </a:solidFill>
          <a:ln w="12700">
            <a:solidFill>
              <a:srgbClr val="DCE3E9"/>
            </a:solidFill>
            <a:prstDash val="solid"/>
          </a:ln>
        </p:spPr>
      </p:sp>
      <p:sp>
        <p:nvSpPr>
          <p:cNvPr id="67" name="Shape 65"/>
          <p:cNvSpPr/>
          <p:nvPr/>
        </p:nvSpPr>
        <p:spPr>
          <a:xfrm>
            <a:off x="9686544" y="3566160"/>
            <a:ext cx="443057" cy="320040"/>
          </a:xfrm>
          <a:prstGeom prst="rect">
            <a:avLst/>
          </a:prstGeom>
          <a:solidFill>
            <a:srgbClr val="DCE3E9"/>
          </a:solidFill>
          <a:ln w="12700">
            <a:solidFill>
              <a:srgbClr val="DCE3E9"/>
            </a:solidFill>
            <a:prstDash val="solid"/>
          </a:ln>
        </p:spPr>
      </p:sp>
      <p:sp>
        <p:nvSpPr>
          <p:cNvPr id="68" name="Shape 66"/>
          <p:cNvSpPr/>
          <p:nvPr/>
        </p:nvSpPr>
        <p:spPr>
          <a:xfrm>
            <a:off x="9686544" y="3950208"/>
            <a:ext cx="443057" cy="320040"/>
          </a:xfrm>
          <a:prstGeom prst="rect">
            <a:avLst/>
          </a:prstGeom>
          <a:solidFill>
            <a:srgbClr val="DCE3E9"/>
          </a:solidFill>
          <a:ln w="12700">
            <a:solidFill>
              <a:srgbClr val="DCE3E9"/>
            </a:solidFill>
            <a:prstDash val="solid"/>
          </a:ln>
        </p:spPr>
      </p:sp>
      <p:sp>
        <p:nvSpPr>
          <p:cNvPr id="69" name="Shape 67"/>
          <p:cNvSpPr/>
          <p:nvPr/>
        </p:nvSpPr>
        <p:spPr>
          <a:xfrm>
            <a:off x="10168128" y="3566160"/>
            <a:ext cx="443057" cy="320040"/>
          </a:xfrm>
          <a:prstGeom prst="rect">
            <a:avLst/>
          </a:prstGeom>
          <a:solidFill>
            <a:srgbClr val="DCE3E9"/>
          </a:solidFill>
          <a:ln w="12700">
            <a:solidFill>
              <a:srgbClr val="DCE3E9"/>
            </a:solidFill>
            <a:prstDash val="solid"/>
          </a:ln>
        </p:spPr>
      </p:sp>
      <p:sp>
        <p:nvSpPr>
          <p:cNvPr id="70" name="Shape 68"/>
          <p:cNvSpPr/>
          <p:nvPr/>
        </p:nvSpPr>
        <p:spPr>
          <a:xfrm>
            <a:off x="10168128" y="3950208"/>
            <a:ext cx="443057" cy="320040"/>
          </a:xfrm>
          <a:prstGeom prst="rect">
            <a:avLst/>
          </a:prstGeom>
          <a:solidFill>
            <a:srgbClr val="DCE3E9"/>
          </a:solidFill>
          <a:ln w="12700">
            <a:solidFill>
              <a:srgbClr val="DCE3E9"/>
            </a:solidFill>
            <a:prstDash val="solid"/>
          </a:ln>
        </p:spPr>
      </p:sp>
      <p:sp>
        <p:nvSpPr>
          <p:cNvPr id="71" name="Shape 69"/>
          <p:cNvSpPr/>
          <p:nvPr/>
        </p:nvSpPr>
        <p:spPr>
          <a:xfrm>
            <a:off x="10649712" y="3566160"/>
            <a:ext cx="443057" cy="320040"/>
          </a:xfrm>
          <a:prstGeom prst="rect">
            <a:avLst/>
          </a:prstGeom>
          <a:solidFill>
            <a:srgbClr val="DCE3E9"/>
          </a:solidFill>
          <a:ln w="12700">
            <a:solidFill>
              <a:srgbClr val="DCE3E9"/>
            </a:solidFill>
            <a:prstDash val="solid"/>
          </a:ln>
        </p:spPr>
      </p:sp>
      <p:sp>
        <p:nvSpPr>
          <p:cNvPr id="72" name="Shape 70"/>
          <p:cNvSpPr/>
          <p:nvPr/>
        </p:nvSpPr>
        <p:spPr>
          <a:xfrm>
            <a:off x="10649712" y="3950208"/>
            <a:ext cx="443057" cy="320040"/>
          </a:xfrm>
          <a:prstGeom prst="rect">
            <a:avLst/>
          </a:prstGeom>
          <a:solidFill>
            <a:srgbClr val="DCE3E9"/>
          </a:solidFill>
          <a:ln w="12700">
            <a:solidFill>
              <a:srgbClr val="DCE3E9"/>
            </a:solidFill>
            <a:prstDash val="solid"/>
          </a:ln>
        </p:spPr>
      </p:sp>
      <p:sp>
        <p:nvSpPr>
          <p:cNvPr id="73" name="Shape 71"/>
          <p:cNvSpPr/>
          <p:nvPr/>
        </p:nvSpPr>
        <p:spPr>
          <a:xfrm>
            <a:off x="11131296" y="3566160"/>
            <a:ext cx="443057" cy="320040"/>
          </a:xfrm>
          <a:prstGeom prst="rect">
            <a:avLst/>
          </a:prstGeom>
          <a:solidFill>
            <a:srgbClr val="DCE3E9"/>
          </a:solidFill>
          <a:ln w="12700">
            <a:solidFill>
              <a:srgbClr val="DCE3E9"/>
            </a:solidFill>
            <a:prstDash val="solid"/>
          </a:ln>
        </p:spPr>
      </p:sp>
      <p:sp>
        <p:nvSpPr>
          <p:cNvPr id="74" name="Shape 72"/>
          <p:cNvSpPr/>
          <p:nvPr/>
        </p:nvSpPr>
        <p:spPr>
          <a:xfrm>
            <a:off x="11131296" y="3950208"/>
            <a:ext cx="443057" cy="320040"/>
          </a:xfrm>
          <a:prstGeom prst="rect">
            <a:avLst/>
          </a:prstGeom>
          <a:solidFill>
            <a:srgbClr val="DCE3E9"/>
          </a:solidFill>
          <a:ln w="12700">
            <a:solidFill>
              <a:srgbClr val="DCE3E9"/>
            </a:solidFill>
            <a:prstDash val="solid"/>
          </a:ln>
        </p:spPr>
      </p:sp>
      <p:sp>
        <p:nvSpPr>
          <p:cNvPr id="75" name="Text 73"/>
          <p:cNvSpPr/>
          <p:nvPr/>
        </p:nvSpPr>
        <p:spPr>
          <a:xfrm>
            <a:off x="4389120" y="4663440"/>
            <a:ext cx="7223760" cy="320040"/>
          </a:xfrm>
          <a:prstGeom prst="rect">
            <a:avLst/>
          </a:prstGeom>
          <a:noFill/>
          <a:ln/>
        </p:spPr>
        <p:txBody>
          <a:bodyPr wrap="square" rtlCol="0" anchor="ctr"/>
          <a:lstStyle/>
          <a:p>
            <a:pPr indent="0" marL="0">
              <a:buNone/>
            </a:pPr>
            <a:r>
              <a:rPr lang="en-US" sz="1200" dirty="0">
                <a:solidFill>
                  <a:srgbClr val="1E2A33"/>
                </a:solidFill>
                <a:latin typeface="Segoe UI" pitchFamily="34" charset="0"/>
                <a:ea typeface="Segoe UI" pitchFamily="34" charset="-122"/>
                <a:cs typeface="Segoe UI" pitchFamily="34" charset="-120"/>
              </a:rPr>
              <a:t>Example 3: true fake 3.1–5.8 s</a:t>
            </a:r>
            <a:endParaRPr lang="en-US" sz="1200" dirty="0"/>
          </a:p>
        </p:txBody>
      </p:sp>
      <p:sp>
        <p:nvSpPr>
          <p:cNvPr id="76" name="Shape 74"/>
          <p:cNvSpPr/>
          <p:nvPr/>
        </p:nvSpPr>
        <p:spPr>
          <a:xfrm>
            <a:off x="4389120" y="5029200"/>
            <a:ext cx="390933" cy="320040"/>
          </a:xfrm>
          <a:prstGeom prst="rect">
            <a:avLst/>
          </a:prstGeom>
          <a:solidFill>
            <a:srgbClr val="DCE3E9"/>
          </a:solidFill>
          <a:ln w="12700">
            <a:solidFill>
              <a:srgbClr val="DCE3E9"/>
            </a:solidFill>
            <a:prstDash val="solid"/>
          </a:ln>
        </p:spPr>
      </p:sp>
      <p:sp>
        <p:nvSpPr>
          <p:cNvPr id="77" name="Shape 75"/>
          <p:cNvSpPr/>
          <p:nvPr/>
        </p:nvSpPr>
        <p:spPr>
          <a:xfrm>
            <a:off x="4389120" y="5413248"/>
            <a:ext cx="390933" cy="320040"/>
          </a:xfrm>
          <a:prstGeom prst="rect">
            <a:avLst/>
          </a:prstGeom>
          <a:solidFill>
            <a:srgbClr val="DCE3E9"/>
          </a:solidFill>
          <a:ln w="12700">
            <a:solidFill>
              <a:srgbClr val="DCE3E9"/>
            </a:solidFill>
            <a:prstDash val="solid"/>
          </a:ln>
        </p:spPr>
      </p:sp>
      <p:sp>
        <p:nvSpPr>
          <p:cNvPr id="78" name="Shape 76"/>
          <p:cNvSpPr/>
          <p:nvPr/>
        </p:nvSpPr>
        <p:spPr>
          <a:xfrm>
            <a:off x="4814047" y="5029200"/>
            <a:ext cx="390933" cy="320040"/>
          </a:xfrm>
          <a:prstGeom prst="rect">
            <a:avLst/>
          </a:prstGeom>
          <a:solidFill>
            <a:srgbClr val="DCE3E9"/>
          </a:solidFill>
          <a:ln w="12700">
            <a:solidFill>
              <a:srgbClr val="DCE3E9"/>
            </a:solidFill>
            <a:prstDash val="solid"/>
          </a:ln>
        </p:spPr>
      </p:sp>
      <p:sp>
        <p:nvSpPr>
          <p:cNvPr id="79" name="Shape 77"/>
          <p:cNvSpPr/>
          <p:nvPr/>
        </p:nvSpPr>
        <p:spPr>
          <a:xfrm>
            <a:off x="4814047" y="5413248"/>
            <a:ext cx="390933" cy="320040"/>
          </a:xfrm>
          <a:prstGeom prst="rect">
            <a:avLst/>
          </a:prstGeom>
          <a:solidFill>
            <a:srgbClr val="DCE3E9"/>
          </a:solidFill>
          <a:ln w="12700">
            <a:solidFill>
              <a:srgbClr val="DCE3E9"/>
            </a:solidFill>
            <a:prstDash val="solid"/>
          </a:ln>
        </p:spPr>
      </p:sp>
      <p:sp>
        <p:nvSpPr>
          <p:cNvPr id="80" name="Shape 78"/>
          <p:cNvSpPr/>
          <p:nvPr/>
        </p:nvSpPr>
        <p:spPr>
          <a:xfrm>
            <a:off x="5238974" y="5029200"/>
            <a:ext cx="390933" cy="320040"/>
          </a:xfrm>
          <a:prstGeom prst="rect">
            <a:avLst/>
          </a:prstGeom>
          <a:solidFill>
            <a:srgbClr val="DCE3E9"/>
          </a:solidFill>
          <a:ln w="12700">
            <a:solidFill>
              <a:srgbClr val="DCE3E9"/>
            </a:solidFill>
            <a:prstDash val="solid"/>
          </a:ln>
        </p:spPr>
      </p:sp>
      <p:sp>
        <p:nvSpPr>
          <p:cNvPr id="81" name="Shape 79"/>
          <p:cNvSpPr/>
          <p:nvPr/>
        </p:nvSpPr>
        <p:spPr>
          <a:xfrm>
            <a:off x="5238974" y="5413248"/>
            <a:ext cx="390933" cy="320040"/>
          </a:xfrm>
          <a:prstGeom prst="rect">
            <a:avLst/>
          </a:prstGeom>
          <a:solidFill>
            <a:srgbClr val="DCE3E9"/>
          </a:solidFill>
          <a:ln w="12700">
            <a:solidFill>
              <a:srgbClr val="DCE3E9"/>
            </a:solidFill>
            <a:prstDash val="solid"/>
          </a:ln>
        </p:spPr>
      </p:sp>
      <p:sp>
        <p:nvSpPr>
          <p:cNvPr id="82" name="Shape 80"/>
          <p:cNvSpPr/>
          <p:nvPr/>
        </p:nvSpPr>
        <p:spPr>
          <a:xfrm>
            <a:off x="5663901" y="5029200"/>
            <a:ext cx="390933" cy="320040"/>
          </a:xfrm>
          <a:prstGeom prst="rect">
            <a:avLst/>
          </a:prstGeom>
          <a:solidFill>
            <a:srgbClr val="DCE3E9"/>
          </a:solidFill>
          <a:ln w="12700">
            <a:solidFill>
              <a:srgbClr val="DCE3E9"/>
            </a:solidFill>
            <a:prstDash val="solid"/>
          </a:ln>
        </p:spPr>
      </p:sp>
      <p:sp>
        <p:nvSpPr>
          <p:cNvPr id="83" name="Shape 81"/>
          <p:cNvSpPr/>
          <p:nvPr/>
        </p:nvSpPr>
        <p:spPr>
          <a:xfrm>
            <a:off x="5663901" y="5413248"/>
            <a:ext cx="390933" cy="320040"/>
          </a:xfrm>
          <a:prstGeom prst="rect">
            <a:avLst/>
          </a:prstGeom>
          <a:solidFill>
            <a:srgbClr val="DCE3E9"/>
          </a:solidFill>
          <a:ln w="12700">
            <a:solidFill>
              <a:srgbClr val="DCE3E9"/>
            </a:solidFill>
            <a:prstDash val="solid"/>
          </a:ln>
        </p:spPr>
      </p:sp>
      <p:sp>
        <p:nvSpPr>
          <p:cNvPr id="84" name="Shape 82"/>
          <p:cNvSpPr/>
          <p:nvPr/>
        </p:nvSpPr>
        <p:spPr>
          <a:xfrm>
            <a:off x="6088828" y="5029200"/>
            <a:ext cx="390933" cy="320040"/>
          </a:xfrm>
          <a:prstGeom prst="rect">
            <a:avLst/>
          </a:prstGeom>
          <a:solidFill>
            <a:srgbClr val="DCE3E9"/>
          </a:solidFill>
          <a:ln w="12700">
            <a:solidFill>
              <a:srgbClr val="DCE3E9"/>
            </a:solidFill>
            <a:prstDash val="solid"/>
          </a:ln>
        </p:spPr>
      </p:sp>
      <p:sp>
        <p:nvSpPr>
          <p:cNvPr id="85" name="Shape 83"/>
          <p:cNvSpPr/>
          <p:nvPr/>
        </p:nvSpPr>
        <p:spPr>
          <a:xfrm>
            <a:off x="6088828" y="5413248"/>
            <a:ext cx="390933" cy="320040"/>
          </a:xfrm>
          <a:prstGeom prst="rect">
            <a:avLst/>
          </a:prstGeom>
          <a:solidFill>
            <a:srgbClr val="DCE3E9"/>
          </a:solidFill>
          <a:ln w="12700">
            <a:solidFill>
              <a:srgbClr val="DCE3E9"/>
            </a:solidFill>
            <a:prstDash val="solid"/>
          </a:ln>
        </p:spPr>
      </p:sp>
      <p:sp>
        <p:nvSpPr>
          <p:cNvPr id="86" name="Shape 84"/>
          <p:cNvSpPr/>
          <p:nvPr/>
        </p:nvSpPr>
        <p:spPr>
          <a:xfrm>
            <a:off x="6513755" y="5029200"/>
            <a:ext cx="390933" cy="320040"/>
          </a:xfrm>
          <a:prstGeom prst="rect">
            <a:avLst/>
          </a:prstGeom>
          <a:solidFill>
            <a:srgbClr val="DCE3E9"/>
          </a:solidFill>
          <a:ln w="12700">
            <a:solidFill>
              <a:srgbClr val="DCE3E9"/>
            </a:solidFill>
            <a:prstDash val="solid"/>
          </a:ln>
        </p:spPr>
      </p:sp>
      <p:sp>
        <p:nvSpPr>
          <p:cNvPr id="87" name="Shape 85"/>
          <p:cNvSpPr/>
          <p:nvPr/>
        </p:nvSpPr>
        <p:spPr>
          <a:xfrm>
            <a:off x="6513755" y="5413248"/>
            <a:ext cx="390933" cy="320040"/>
          </a:xfrm>
          <a:prstGeom prst="rect">
            <a:avLst/>
          </a:prstGeom>
          <a:solidFill>
            <a:srgbClr val="DCE3E9"/>
          </a:solidFill>
          <a:ln w="12700">
            <a:solidFill>
              <a:srgbClr val="DCE3E9"/>
            </a:solidFill>
            <a:prstDash val="solid"/>
          </a:ln>
        </p:spPr>
      </p:sp>
      <p:sp>
        <p:nvSpPr>
          <p:cNvPr id="88" name="Shape 86"/>
          <p:cNvSpPr/>
          <p:nvPr/>
        </p:nvSpPr>
        <p:spPr>
          <a:xfrm>
            <a:off x="6938682" y="5029200"/>
            <a:ext cx="390933" cy="320040"/>
          </a:xfrm>
          <a:prstGeom prst="rect">
            <a:avLst/>
          </a:prstGeom>
          <a:solidFill>
            <a:srgbClr val="F2C4C0"/>
          </a:solidFill>
          <a:ln w="12700">
            <a:solidFill>
              <a:srgbClr val="F2C4C0"/>
            </a:solidFill>
            <a:prstDash val="solid"/>
          </a:ln>
        </p:spPr>
      </p:sp>
      <p:sp>
        <p:nvSpPr>
          <p:cNvPr id="89" name="Shape 87"/>
          <p:cNvSpPr/>
          <p:nvPr/>
        </p:nvSpPr>
        <p:spPr>
          <a:xfrm>
            <a:off x="6938682" y="5413248"/>
            <a:ext cx="390933" cy="320040"/>
          </a:xfrm>
          <a:prstGeom prst="rect">
            <a:avLst/>
          </a:prstGeom>
          <a:solidFill>
            <a:srgbClr val="DCE3E9"/>
          </a:solidFill>
          <a:ln w="12700">
            <a:solidFill>
              <a:srgbClr val="DCE3E9"/>
            </a:solidFill>
            <a:prstDash val="solid"/>
          </a:ln>
        </p:spPr>
      </p:sp>
      <p:sp>
        <p:nvSpPr>
          <p:cNvPr id="90" name="Shape 88"/>
          <p:cNvSpPr/>
          <p:nvPr/>
        </p:nvSpPr>
        <p:spPr>
          <a:xfrm>
            <a:off x="7363609" y="5029200"/>
            <a:ext cx="390933" cy="320040"/>
          </a:xfrm>
          <a:prstGeom prst="rect">
            <a:avLst/>
          </a:prstGeom>
          <a:solidFill>
            <a:srgbClr val="F2C4C0"/>
          </a:solidFill>
          <a:ln w="12700">
            <a:solidFill>
              <a:srgbClr val="F2C4C0"/>
            </a:solidFill>
            <a:prstDash val="solid"/>
          </a:ln>
        </p:spPr>
      </p:sp>
      <p:sp>
        <p:nvSpPr>
          <p:cNvPr id="91" name="Shape 89"/>
          <p:cNvSpPr/>
          <p:nvPr/>
        </p:nvSpPr>
        <p:spPr>
          <a:xfrm>
            <a:off x="7363609" y="5413248"/>
            <a:ext cx="390933" cy="320040"/>
          </a:xfrm>
          <a:prstGeom prst="rect">
            <a:avLst/>
          </a:prstGeom>
          <a:solidFill>
            <a:srgbClr val="DCE3E9"/>
          </a:solidFill>
          <a:ln w="12700">
            <a:solidFill>
              <a:srgbClr val="DCE3E9"/>
            </a:solidFill>
            <a:prstDash val="solid"/>
          </a:ln>
        </p:spPr>
      </p:sp>
      <p:sp>
        <p:nvSpPr>
          <p:cNvPr id="92" name="Shape 90"/>
          <p:cNvSpPr/>
          <p:nvPr/>
        </p:nvSpPr>
        <p:spPr>
          <a:xfrm>
            <a:off x="7788536" y="5029200"/>
            <a:ext cx="390933" cy="320040"/>
          </a:xfrm>
          <a:prstGeom prst="rect">
            <a:avLst/>
          </a:prstGeom>
          <a:solidFill>
            <a:srgbClr val="F2C4C0"/>
          </a:solidFill>
          <a:ln w="12700">
            <a:solidFill>
              <a:srgbClr val="F2C4C0"/>
            </a:solidFill>
            <a:prstDash val="solid"/>
          </a:ln>
        </p:spPr>
      </p:sp>
      <p:sp>
        <p:nvSpPr>
          <p:cNvPr id="93" name="Shape 91"/>
          <p:cNvSpPr/>
          <p:nvPr/>
        </p:nvSpPr>
        <p:spPr>
          <a:xfrm>
            <a:off x="7788536" y="5413248"/>
            <a:ext cx="390933" cy="320040"/>
          </a:xfrm>
          <a:prstGeom prst="rect">
            <a:avLst/>
          </a:prstGeom>
          <a:solidFill>
            <a:srgbClr val="DCE3E9"/>
          </a:solidFill>
          <a:ln w="12700">
            <a:solidFill>
              <a:srgbClr val="DCE3E9"/>
            </a:solidFill>
            <a:prstDash val="solid"/>
          </a:ln>
        </p:spPr>
      </p:sp>
      <p:sp>
        <p:nvSpPr>
          <p:cNvPr id="94" name="Shape 92"/>
          <p:cNvSpPr/>
          <p:nvPr/>
        </p:nvSpPr>
        <p:spPr>
          <a:xfrm>
            <a:off x="8213464" y="5029200"/>
            <a:ext cx="390933" cy="320040"/>
          </a:xfrm>
          <a:prstGeom prst="rect">
            <a:avLst/>
          </a:prstGeom>
          <a:solidFill>
            <a:srgbClr val="F2C4C0"/>
          </a:solidFill>
          <a:ln w="12700">
            <a:solidFill>
              <a:srgbClr val="F2C4C0"/>
            </a:solidFill>
            <a:prstDash val="solid"/>
          </a:ln>
        </p:spPr>
      </p:sp>
      <p:sp>
        <p:nvSpPr>
          <p:cNvPr id="95" name="Shape 93"/>
          <p:cNvSpPr/>
          <p:nvPr/>
        </p:nvSpPr>
        <p:spPr>
          <a:xfrm>
            <a:off x="8213464" y="5413248"/>
            <a:ext cx="390933" cy="320040"/>
          </a:xfrm>
          <a:prstGeom prst="rect">
            <a:avLst/>
          </a:prstGeom>
          <a:solidFill>
            <a:srgbClr val="DCE3E9"/>
          </a:solidFill>
          <a:ln w="12700">
            <a:solidFill>
              <a:srgbClr val="DCE3E9"/>
            </a:solidFill>
            <a:prstDash val="solid"/>
          </a:ln>
        </p:spPr>
      </p:sp>
      <p:sp>
        <p:nvSpPr>
          <p:cNvPr id="96" name="Shape 94"/>
          <p:cNvSpPr/>
          <p:nvPr/>
        </p:nvSpPr>
        <p:spPr>
          <a:xfrm>
            <a:off x="8638391" y="5029200"/>
            <a:ext cx="390933" cy="320040"/>
          </a:xfrm>
          <a:prstGeom prst="rect">
            <a:avLst/>
          </a:prstGeom>
          <a:solidFill>
            <a:srgbClr val="F2C4C0"/>
          </a:solidFill>
          <a:ln w="12700">
            <a:solidFill>
              <a:srgbClr val="F2C4C0"/>
            </a:solidFill>
            <a:prstDash val="solid"/>
          </a:ln>
        </p:spPr>
      </p:sp>
      <p:sp>
        <p:nvSpPr>
          <p:cNvPr id="97" name="Shape 95"/>
          <p:cNvSpPr/>
          <p:nvPr/>
        </p:nvSpPr>
        <p:spPr>
          <a:xfrm>
            <a:off x="8638391" y="5413248"/>
            <a:ext cx="390933" cy="320040"/>
          </a:xfrm>
          <a:prstGeom prst="rect">
            <a:avLst/>
          </a:prstGeom>
          <a:solidFill>
            <a:srgbClr val="DCE3E9"/>
          </a:solidFill>
          <a:ln w="12700">
            <a:solidFill>
              <a:srgbClr val="DCE3E9"/>
            </a:solidFill>
            <a:prstDash val="solid"/>
          </a:ln>
        </p:spPr>
      </p:sp>
      <p:sp>
        <p:nvSpPr>
          <p:cNvPr id="98" name="Shape 96"/>
          <p:cNvSpPr/>
          <p:nvPr/>
        </p:nvSpPr>
        <p:spPr>
          <a:xfrm>
            <a:off x="9063318" y="5029200"/>
            <a:ext cx="390933" cy="320040"/>
          </a:xfrm>
          <a:prstGeom prst="rect">
            <a:avLst/>
          </a:prstGeom>
          <a:solidFill>
            <a:srgbClr val="F2C4C0"/>
          </a:solidFill>
          <a:ln w="12700">
            <a:solidFill>
              <a:srgbClr val="F2C4C0"/>
            </a:solidFill>
            <a:prstDash val="solid"/>
          </a:ln>
        </p:spPr>
      </p:sp>
      <p:sp>
        <p:nvSpPr>
          <p:cNvPr id="99" name="Shape 97"/>
          <p:cNvSpPr/>
          <p:nvPr/>
        </p:nvSpPr>
        <p:spPr>
          <a:xfrm>
            <a:off x="9063318" y="5413248"/>
            <a:ext cx="390933" cy="320040"/>
          </a:xfrm>
          <a:prstGeom prst="rect">
            <a:avLst/>
          </a:prstGeom>
          <a:solidFill>
            <a:srgbClr val="DCE3E9"/>
          </a:solidFill>
          <a:ln w="12700">
            <a:solidFill>
              <a:srgbClr val="DCE3E9"/>
            </a:solidFill>
            <a:prstDash val="solid"/>
          </a:ln>
        </p:spPr>
      </p:sp>
      <p:sp>
        <p:nvSpPr>
          <p:cNvPr id="100" name="Shape 98"/>
          <p:cNvSpPr/>
          <p:nvPr/>
        </p:nvSpPr>
        <p:spPr>
          <a:xfrm>
            <a:off x="9488245" y="5029200"/>
            <a:ext cx="390933" cy="320040"/>
          </a:xfrm>
          <a:prstGeom prst="rect">
            <a:avLst/>
          </a:prstGeom>
          <a:solidFill>
            <a:srgbClr val="DCE3E9"/>
          </a:solidFill>
          <a:ln w="12700">
            <a:solidFill>
              <a:srgbClr val="DCE3E9"/>
            </a:solidFill>
            <a:prstDash val="solid"/>
          </a:ln>
        </p:spPr>
      </p:sp>
      <p:sp>
        <p:nvSpPr>
          <p:cNvPr id="101" name="Shape 99"/>
          <p:cNvSpPr/>
          <p:nvPr/>
        </p:nvSpPr>
        <p:spPr>
          <a:xfrm>
            <a:off x="9488245" y="5413248"/>
            <a:ext cx="390933" cy="320040"/>
          </a:xfrm>
          <a:prstGeom prst="rect">
            <a:avLst/>
          </a:prstGeom>
          <a:solidFill>
            <a:srgbClr val="DCE3E9"/>
          </a:solidFill>
          <a:ln w="12700">
            <a:solidFill>
              <a:srgbClr val="DCE3E9"/>
            </a:solidFill>
            <a:prstDash val="solid"/>
          </a:ln>
        </p:spPr>
      </p:sp>
      <p:sp>
        <p:nvSpPr>
          <p:cNvPr id="102" name="Shape 100"/>
          <p:cNvSpPr/>
          <p:nvPr/>
        </p:nvSpPr>
        <p:spPr>
          <a:xfrm>
            <a:off x="9913172" y="5029200"/>
            <a:ext cx="390933" cy="320040"/>
          </a:xfrm>
          <a:prstGeom prst="rect">
            <a:avLst/>
          </a:prstGeom>
          <a:solidFill>
            <a:srgbClr val="DCE3E9"/>
          </a:solidFill>
          <a:ln w="12700">
            <a:solidFill>
              <a:srgbClr val="DCE3E9"/>
            </a:solidFill>
            <a:prstDash val="solid"/>
          </a:ln>
        </p:spPr>
      </p:sp>
      <p:sp>
        <p:nvSpPr>
          <p:cNvPr id="103" name="Shape 101"/>
          <p:cNvSpPr/>
          <p:nvPr/>
        </p:nvSpPr>
        <p:spPr>
          <a:xfrm>
            <a:off x="9913172" y="5413248"/>
            <a:ext cx="390933" cy="320040"/>
          </a:xfrm>
          <a:prstGeom prst="rect">
            <a:avLst/>
          </a:prstGeom>
          <a:solidFill>
            <a:srgbClr val="DCE3E9"/>
          </a:solidFill>
          <a:ln w="12700">
            <a:solidFill>
              <a:srgbClr val="DCE3E9"/>
            </a:solidFill>
            <a:prstDash val="solid"/>
          </a:ln>
        </p:spPr>
      </p:sp>
      <p:sp>
        <p:nvSpPr>
          <p:cNvPr id="104" name="Shape 102"/>
          <p:cNvSpPr/>
          <p:nvPr/>
        </p:nvSpPr>
        <p:spPr>
          <a:xfrm>
            <a:off x="10338099" y="5029200"/>
            <a:ext cx="390933" cy="320040"/>
          </a:xfrm>
          <a:prstGeom prst="rect">
            <a:avLst/>
          </a:prstGeom>
          <a:solidFill>
            <a:srgbClr val="DCE3E9"/>
          </a:solidFill>
          <a:ln w="12700">
            <a:solidFill>
              <a:srgbClr val="DCE3E9"/>
            </a:solidFill>
            <a:prstDash val="solid"/>
          </a:ln>
        </p:spPr>
      </p:sp>
      <p:sp>
        <p:nvSpPr>
          <p:cNvPr id="105" name="Shape 103"/>
          <p:cNvSpPr/>
          <p:nvPr/>
        </p:nvSpPr>
        <p:spPr>
          <a:xfrm>
            <a:off x="10338099" y="5413248"/>
            <a:ext cx="390933" cy="320040"/>
          </a:xfrm>
          <a:prstGeom prst="rect">
            <a:avLst/>
          </a:prstGeom>
          <a:solidFill>
            <a:srgbClr val="DCE3E9"/>
          </a:solidFill>
          <a:ln w="12700">
            <a:solidFill>
              <a:srgbClr val="DCE3E9"/>
            </a:solidFill>
            <a:prstDash val="solid"/>
          </a:ln>
        </p:spPr>
      </p:sp>
      <p:sp>
        <p:nvSpPr>
          <p:cNvPr id="106" name="Shape 104"/>
          <p:cNvSpPr/>
          <p:nvPr/>
        </p:nvSpPr>
        <p:spPr>
          <a:xfrm>
            <a:off x="10763026" y="5029200"/>
            <a:ext cx="390933" cy="320040"/>
          </a:xfrm>
          <a:prstGeom prst="rect">
            <a:avLst/>
          </a:prstGeom>
          <a:solidFill>
            <a:srgbClr val="DCE3E9"/>
          </a:solidFill>
          <a:ln w="12700">
            <a:solidFill>
              <a:srgbClr val="DCE3E9"/>
            </a:solidFill>
            <a:prstDash val="solid"/>
          </a:ln>
        </p:spPr>
      </p:sp>
      <p:sp>
        <p:nvSpPr>
          <p:cNvPr id="107" name="Shape 105"/>
          <p:cNvSpPr/>
          <p:nvPr/>
        </p:nvSpPr>
        <p:spPr>
          <a:xfrm>
            <a:off x="10763026" y="5413248"/>
            <a:ext cx="390933" cy="320040"/>
          </a:xfrm>
          <a:prstGeom prst="rect">
            <a:avLst/>
          </a:prstGeom>
          <a:solidFill>
            <a:srgbClr val="DCE3E9"/>
          </a:solidFill>
          <a:ln w="12700">
            <a:solidFill>
              <a:srgbClr val="DCE3E9"/>
            </a:solidFill>
            <a:prstDash val="solid"/>
          </a:ln>
        </p:spPr>
      </p:sp>
      <p:sp>
        <p:nvSpPr>
          <p:cNvPr id="108" name="Shape 106"/>
          <p:cNvSpPr/>
          <p:nvPr/>
        </p:nvSpPr>
        <p:spPr>
          <a:xfrm>
            <a:off x="11187953" y="5029200"/>
            <a:ext cx="390933" cy="320040"/>
          </a:xfrm>
          <a:prstGeom prst="rect">
            <a:avLst/>
          </a:prstGeom>
          <a:solidFill>
            <a:srgbClr val="DCE3E9"/>
          </a:solidFill>
          <a:ln w="12700">
            <a:solidFill>
              <a:srgbClr val="DCE3E9"/>
            </a:solidFill>
            <a:prstDash val="solid"/>
          </a:ln>
        </p:spPr>
      </p:sp>
      <p:sp>
        <p:nvSpPr>
          <p:cNvPr id="109" name="Shape 107"/>
          <p:cNvSpPr/>
          <p:nvPr/>
        </p:nvSpPr>
        <p:spPr>
          <a:xfrm>
            <a:off x="11187953" y="5413248"/>
            <a:ext cx="390933" cy="320040"/>
          </a:xfrm>
          <a:prstGeom prst="rect">
            <a:avLst/>
          </a:prstGeom>
          <a:solidFill>
            <a:srgbClr val="DCE3E9"/>
          </a:solidFill>
          <a:ln w="12700">
            <a:solidFill>
              <a:srgbClr val="DCE3E9"/>
            </a:solidFill>
            <a:prstDash val="solid"/>
          </a:ln>
        </p:spPr>
      </p:sp>
      <p:sp>
        <p:nvSpPr>
          <p:cNvPr id="110" name="Text 108"/>
          <p:cNvSpPr/>
          <p:nvPr/>
        </p:nvSpPr>
        <p:spPr>
          <a:xfrm>
            <a:off x="4389120" y="6080760"/>
            <a:ext cx="7223760" cy="274320"/>
          </a:xfrm>
          <a:prstGeom prst="rect">
            <a:avLst/>
          </a:prstGeom>
          <a:noFill/>
          <a:ln/>
        </p:spPr>
        <p:txBody>
          <a:bodyPr wrap="square" rtlCol="0" anchor="ctr"/>
          <a:lstStyle/>
          <a:p>
            <a:pPr indent="0" marL="0">
              <a:buNone/>
            </a:pPr>
            <a:r>
              <a:rPr lang="en-US" sz="1000" dirty="0">
                <a:solidFill>
                  <a:srgbClr val="526270"/>
                </a:solidFill>
                <a:latin typeface="Segoe UI" pitchFamily="34" charset="0"/>
                <a:ea typeface="Segoe UI" pitchFamily="34" charset="-122"/>
                <a:cs typeface="Segoe UI" pitchFamily="34" charset="-120"/>
              </a:rPr>
              <a:t>Top strip = true fake cells · bottom strip = Kavach's 0.5 s cells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PHASE 2 · R3 + R4</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Live call mode, and Phase 1 still holds</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1554480"/>
            <a:ext cx="5120640" cy="2377440"/>
          </a:xfrm>
          <a:prstGeom prst="roundRect">
            <a:avLst>
              <a:gd name="adj" fmla="val 6923"/>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1719072"/>
            <a:ext cx="466344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Streaming every 500 ms</a:t>
            </a:r>
            <a:endParaRPr lang="en-US" sz="1800" dirty="0"/>
          </a:p>
        </p:txBody>
      </p:sp>
      <p:sp>
        <p:nvSpPr>
          <p:cNvPr id="7" name="Text 5"/>
          <p:cNvSpPr/>
          <p:nvPr/>
        </p:nvSpPr>
        <p:spPr>
          <a:xfrm>
            <a:off x="777240" y="2194560"/>
            <a:ext cx="4663440" cy="160020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Browser streams the call over a WebSocket. Every 0.5 s the latest 2 s is scored.</a:t>
            </a:r>
            <a:endParaRPr lang="en-US" sz="1300" dirty="0"/>
          </a:p>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Processing per update: median 25.7 ms, p95 31.4 ms (cuda)</a:t>
            </a:r>
            <a:endParaRPr lang="en-US" sz="1300" dirty="0"/>
          </a:p>
        </p:txBody>
      </p:sp>
      <p:sp>
        <p:nvSpPr>
          <p:cNvPr id="8" name="Shape 6"/>
          <p:cNvSpPr/>
          <p:nvPr/>
        </p:nvSpPr>
        <p:spPr>
          <a:xfrm>
            <a:off x="548640" y="4114800"/>
            <a:ext cx="512064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9" name="Text 7"/>
          <p:cNvSpPr/>
          <p:nvPr/>
        </p:nvSpPr>
        <p:spPr>
          <a:xfrm>
            <a:off x="777240" y="4279392"/>
            <a:ext cx="466344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In the app</a:t>
            </a:r>
            <a:endParaRPr lang="en-US" sz="1800" dirty="0"/>
          </a:p>
        </p:txBody>
      </p:sp>
      <p:sp>
        <p:nvSpPr>
          <p:cNvPr id="10" name="Text 8"/>
          <p:cNvSpPr/>
          <p:nvPr/>
        </p:nvSpPr>
        <p:spPr>
          <a:xfrm>
            <a:off x="777240" y="4754880"/>
            <a:ext cx="4663440" cy="123444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Live call: mic or simulated call, score line updating twice a second, alert after the voice looks cloned.</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35040" y="1554480"/>
          <a:ext cx="5577840" cy="914400"/>
        </p:xfrm>
        <a:graphic>
          <a:graphicData uri="http://schemas.openxmlformats.org/drawingml/2006/table">
            <a:tbl>
              <a:tblPr/>
              <a:tblGrid>
                <a:gridCol w="2194560"/>
                <a:gridCol w="1097280"/>
                <a:gridCol w="1097280"/>
                <a:gridCol w="1188720"/>
              </a:tblGrid>
              <a:tr h="411480">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Phase 1 test</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Phase 1</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Phase 2</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Change</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r>
              <a:tr h="411480">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Unseen speakers 4 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2.3%</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2.0%</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-0.30 pts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411480">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 s clips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2.6%</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2.3%</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-0.30 pts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411480">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10 s clips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2.3%</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2.0%</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-0.25 pts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411480">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Phone line</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2.9%</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3.0%</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+0.10 pts</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bl>
          </a:graphicData>
        </a:graphic>
      </p:graphicFrame>
      <p:sp>
        <p:nvSpPr>
          <p:cNvPr id="12" name="Text 9"/>
          <p:cNvSpPr/>
          <p:nvPr/>
        </p:nvSpPr>
        <p:spPr>
          <a:xfrm>
            <a:off x="6035040" y="3931920"/>
            <a:ext cx="5577840" cy="457200"/>
          </a:xfrm>
          <a:prstGeom prst="rect">
            <a:avLst/>
          </a:prstGeom>
          <a:noFill/>
          <a:ln/>
        </p:spPr>
        <p:txBody>
          <a:bodyPr wrap="square" rtlCol="0" anchor="ctr"/>
          <a:lstStyle/>
          <a:p>
            <a:pPr indent="0" marL="0">
              <a:buNone/>
            </a:pPr>
            <a:r>
              <a:rPr lang="en-US" sz="1600" dirty="0">
                <a:solidFill>
                  <a:srgbClr val="157A43"/>
                </a:solidFill>
                <a:latin typeface="Segoe UI Semibold" pitchFamily="34" charset="0"/>
                <a:ea typeface="Segoe UI Semibold" pitchFamily="34" charset="-122"/>
                <a:cs typeface="Segoe UI Semibold" pitchFamily="34" charset="-120"/>
              </a:rPr>
              <a:t>All Phase 1 EERs within 2 points ✓</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RED-TEAM TEST</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A 4-second WhatsApp note was enough to clone a voice</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1554480"/>
            <a:ext cx="365760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1719072"/>
            <a:ext cx="320040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The attack</a:t>
            </a:r>
            <a:endParaRPr lang="en-US" sz="1800" dirty="0"/>
          </a:p>
        </p:txBody>
      </p:sp>
      <p:sp>
        <p:nvSpPr>
          <p:cNvPr id="7" name="Text 5"/>
          <p:cNvSpPr/>
          <p:nvPr/>
        </p:nvSpPr>
        <p:spPr>
          <a:xfrm>
            <a:off x="777240" y="2194560"/>
            <a:ext cx="3200400" cy="1234440"/>
          </a:xfrm>
          <a:prstGeom prst="rect">
            <a:avLst/>
          </a:prstGeom>
          <a:noFill/>
          <a:ln/>
        </p:spPr>
        <p:txBody>
          <a:bodyPr wrap="square" rtlCol="0" anchor="t"/>
          <a:lstStyle/>
          <a:p>
            <a:pPr indent="0" marL="0">
              <a:spcAft>
                <a:spcPts val="400"/>
              </a:spcAft>
              <a:buNone/>
            </a:pPr>
            <a:r>
              <a:rPr lang="en-US" sz="1200" dirty="0">
                <a:solidFill>
                  <a:srgbClr val="526270"/>
                </a:solidFill>
                <a:latin typeface="Segoe UI" pitchFamily="34" charset="0"/>
                <a:ea typeface="Segoe UI" pitchFamily="34" charset="-122"/>
                <a:cs typeface="Segoe UI" pitchFamily="34" charset="-120"/>
              </a:rPr>
              <a:t>Zero-shot cloner F5-TTS (never in training) copied a speaker from a 3.9 s WhatsApp voice note, then we laundered the clones: WhatsApp Opus, phone AMR, street noise, speaker-to-mic replay.</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480560" y="1554480"/>
          <a:ext cx="7132320" cy="914400"/>
        </p:xfrm>
        <a:graphic>
          <a:graphicData uri="http://schemas.openxmlformats.org/drawingml/2006/table">
            <a:tbl>
              <a:tblPr/>
              <a:tblGrid>
                <a:gridCol w="3291840"/>
                <a:gridCol w="1097280"/>
                <a:gridCol w="1280160"/>
                <a:gridCol w="1463040"/>
              </a:tblGrid>
              <a:tr h="438912">
                <a:tc>
                  <a:txBody>
                    <a:bodyPr/>
                    <a:lstStyle/>
                    <a:p>
                      <a:pPr indent="0" marL="0">
                        <a:buNone/>
                      </a:pP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FAKE</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NOT SURE</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c>
                  <a:txBody>
                    <a:bodyPr/>
                    <a:lstStyle/>
                    <a:p>
                      <a:pPr indent="0" marL="0">
                        <a:buNone/>
                      </a:pPr>
                      <a:r>
                        <a:rPr lang="en-US" sz="1300" b="1" dirty="0">
                          <a:solidFill>
                            <a:srgbClr val="0F6B58"/>
                          </a:solidFill>
                          <a:latin typeface="Segoe UI" pitchFamily="34" charset="0"/>
                          <a:ea typeface="Segoe UI" pitchFamily="34" charset="-122"/>
                          <a:cs typeface="Segoe UI" pitchFamily="34" charset="-120"/>
                        </a:rPr>
                        <a:t>REAL (missed)</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DCE6EC"/>
                    </a:solidFill>
                  </a:tcPr>
                </a:tc>
              </a:tr>
              <a:tr h="438912">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Clones · before noise shield</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12</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438912">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Clones · with noise shield</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16</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2</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r h="438912">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Real voice note · with shield</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1</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c>
                  <a:txBody>
                    <a:bodyPr/>
                    <a:lstStyle/>
                    <a:p>
                      <a:pPr indent="0" marL="0">
                        <a:buNone/>
                      </a:pPr>
                      <a:r>
                        <a:rPr lang="en-US" sz="1300" dirty="0">
                          <a:solidFill>
                            <a:srgbClr val="1E2A33"/>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91440" marR="91440" marT="45720" marB="45720">
                    <a:lnL w="12700" cap="flat" cmpd="sng" algn="ctr">
                      <a:solidFill>
                        <a:srgbClr val="D3DAE1"/>
                      </a:solidFill>
                      <a:prstDash val="solid"/>
                      <a:round/>
                      <a:headEnd type="none" w="med" len="med"/>
                      <a:tailEnd type="none" w="med" len="med"/>
                    </a:lnL>
                    <a:lnR w="12700" cap="flat" cmpd="sng" algn="ctr">
                      <a:solidFill>
                        <a:srgbClr val="D3DAE1"/>
                      </a:solidFill>
                      <a:prstDash val="solid"/>
                      <a:round/>
                      <a:headEnd type="none" w="med" len="med"/>
                      <a:tailEnd type="none" w="med" len="med"/>
                    </a:lnR>
                    <a:lnT w="12700" cap="flat" cmpd="sng" algn="ctr">
                      <a:solidFill>
                        <a:srgbClr val="D3DAE1"/>
                      </a:solidFill>
                      <a:prstDash val="solid"/>
                      <a:round/>
                      <a:headEnd type="none" w="med" len="med"/>
                      <a:tailEnd type="none" w="med" len="med"/>
                    </a:lnT>
                    <a:lnB w="12700" cap="flat" cmpd="sng" algn="ctr">
                      <a:solidFill>
                        <a:srgbClr val="D3DAE1"/>
                      </a:solidFill>
                      <a:prstDash val="solid"/>
                      <a:round/>
                      <a:headEnd type="none" w="med" len="med"/>
                      <a:tailEnd type="none" w="med" len="med"/>
                    </a:lnB>
                    <a:solidFill>
                      <a:srgbClr val="EEF2F6"/>
                    </a:solidFill>
                  </a:tcPr>
                </a:tc>
              </a:tr>
            </a:tbl>
          </a:graphicData>
        </a:graphic>
      </p:graphicFrame>
      <p:sp>
        <p:nvSpPr>
          <p:cNvPr id="9" name="Shape 6"/>
          <p:cNvSpPr/>
          <p:nvPr/>
        </p:nvSpPr>
        <p:spPr>
          <a:xfrm>
            <a:off x="548640" y="3794760"/>
            <a:ext cx="11064240" cy="2331720"/>
          </a:xfrm>
          <a:prstGeom prst="roundRect">
            <a:avLst>
              <a:gd name="adj" fmla="val 7059"/>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0" name="Text 7"/>
          <p:cNvSpPr/>
          <p:nvPr/>
        </p:nvSpPr>
        <p:spPr>
          <a:xfrm>
            <a:off x="777240" y="3959352"/>
            <a:ext cx="1060704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Noise shield on 300 held-out clips</a:t>
            </a:r>
            <a:endParaRPr lang="en-US" sz="1800" dirty="0"/>
          </a:p>
        </p:txBody>
      </p:sp>
      <p:sp>
        <p:nvSpPr>
          <p:cNvPr id="11" name="Text 8"/>
          <p:cNvSpPr/>
          <p:nvPr/>
        </p:nvSpPr>
        <p:spPr>
          <a:xfrm>
            <a:off x="777240" y="4434840"/>
            <a:ext cx="10607040" cy="1554480"/>
          </a:xfrm>
          <a:prstGeom prst="rect">
            <a:avLst/>
          </a:prstGeom>
          <a:noFill/>
          <a:ln/>
        </p:spPr>
        <p:txBody>
          <a:bodyPr wrap="square" rtlCol="0" anchor="t"/>
          <a:lstStyle/>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Noisy fakes (15 dB): caught 76% (was 54%), NOT SURE 10%.  Noisy real voices wrongly FAKE: 2%.  Clean real voices wrongly FAKE: 1%.</a:t>
            </a:r>
            <a:endParaRPr lang="en-US" sz="1300" dirty="0"/>
          </a:p>
          <a:p>
            <a:pPr indent="0" marL="0">
              <a:spcAft>
                <a:spcPts val="400"/>
              </a:spcAft>
              <a:buNone/>
            </a:pPr>
            <a:r>
              <a:rPr lang="en-US" sz="1300" dirty="0">
                <a:solidFill>
                  <a:srgbClr val="526270"/>
                </a:solidFill>
                <a:latin typeface="Segoe UI" pitchFamily="34" charset="0"/>
                <a:ea typeface="Segoe UI" pitchFamily="34" charset="-122"/>
                <a:cs typeface="Segoe UI" pitchFamily="34" charset="-120"/>
              </a:rPr>
              <a:t>How: when a clip is noisy (estimated SNR &lt; 24 dB), Kavach also scores it after removing background noise with Demucs. A red FAKE needs a strong denoised score; a weaker one gives amber NOT SURE instead of a red accusation.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LIVE PROTOTYPE</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Upload or record, verdict in under a second</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pic>
        <p:nvPicPr>
          <p:cNvPr id="5" name="Image 0" descr="D:\kavach\runs\e2e_desktop.png">    </p:cNvPr>
          <p:cNvPicPr>
            <a:picLocks noChangeAspect="1"/>
          </p:cNvPicPr>
          <p:nvPr/>
        </p:nvPicPr>
        <p:blipFill>
          <a:blip r:embed="rId1"/>
          <a:srcRect l="0" r="0" t="0" b="0"/>
          <a:stretch/>
        </p:blipFill>
        <p:spPr>
          <a:xfrm>
            <a:off x="548640" y="1508760"/>
            <a:ext cx="4023360" cy="4754880"/>
          </a:xfrm>
          <a:prstGeom prst="rect">
            <a:avLst/>
          </a:prstGeom>
        </p:spPr>
      </p:pic>
      <p:sp>
        <p:nvSpPr>
          <p:cNvPr id="6" name="Shape 3"/>
          <p:cNvSpPr/>
          <p:nvPr/>
        </p:nvSpPr>
        <p:spPr>
          <a:xfrm>
            <a:off x="4937760" y="1508760"/>
            <a:ext cx="6675120" cy="1463040"/>
          </a:xfrm>
          <a:prstGeom prst="roundRect">
            <a:avLst>
              <a:gd name="adj" fmla="val 11250"/>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7" name="Text 4"/>
          <p:cNvSpPr/>
          <p:nvPr/>
        </p:nvSpPr>
        <p:spPr>
          <a:xfrm>
            <a:off x="5166360" y="1673352"/>
            <a:ext cx="621792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Speed (RTX 4050 laptop)</a:t>
            </a:r>
            <a:endParaRPr lang="en-US" sz="1800" dirty="0"/>
          </a:p>
        </p:txBody>
      </p:sp>
      <p:sp>
        <p:nvSpPr>
          <p:cNvPr id="8" name="Text 5"/>
          <p:cNvSpPr/>
          <p:nvPr/>
        </p:nvSpPr>
        <p:spPr>
          <a:xfrm>
            <a:off x="5166360" y="2148840"/>
            <a:ext cx="6217920" cy="685800"/>
          </a:xfrm>
          <a:prstGeom prst="rect">
            <a:avLst/>
          </a:prstGeom>
          <a:noFill/>
          <a:ln/>
        </p:spPr>
        <p:txBody>
          <a:bodyPr wrap="square" rtlCol="0" anchor="t"/>
          <a:lstStyle/>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Median 318 ms per clip, p95 728 ms; 0 errors in 60 concurrent requests.</a:t>
            </a:r>
            <a:endParaRPr lang="en-US" sz="1400" dirty="0"/>
          </a:p>
        </p:txBody>
      </p:sp>
      <p:sp>
        <p:nvSpPr>
          <p:cNvPr id="9" name="Shape 6"/>
          <p:cNvSpPr/>
          <p:nvPr/>
        </p:nvSpPr>
        <p:spPr>
          <a:xfrm>
            <a:off x="4937760" y="3200400"/>
            <a:ext cx="6675120" cy="3063240"/>
          </a:xfrm>
          <a:prstGeom prst="roundRect">
            <a:avLst>
              <a:gd name="adj" fmla="val 5373"/>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0" name="Text 7"/>
          <p:cNvSpPr/>
          <p:nvPr/>
        </p:nvSpPr>
        <p:spPr>
          <a:xfrm>
            <a:off x="5166360" y="3364992"/>
            <a:ext cx="621792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Demo</a:t>
            </a:r>
            <a:endParaRPr lang="en-US" sz="1800" dirty="0"/>
          </a:p>
        </p:txBody>
      </p:sp>
      <p:sp>
        <p:nvSpPr>
          <p:cNvPr id="11" name="Text 8"/>
          <p:cNvSpPr/>
          <p:nvPr/>
        </p:nvSpPr>
        <p:spPr>
          <a:xfrm>
            <a:off x="5166360" y="3840480"/>
            <a:ext cx="6217920" cy="228600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1. Team member's real voice → REAL</a:t>
            </a:r>
            <a:endParaRPr lang="en-US" sz="1500" dirty="0"/>
          </a:p>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2. Same person, cloned: "Mummy, I'm in trouble, send ₹50,000" → FAKE</a:t>
            </a:r>
            <a:endParaRPr lang="en-US" sz="1500" dirty="0"/>
          </a:p>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3. A cloner it never saw → still FAKE</a:t>
            </a:r>
            <a:endParaRPr lang="en-US" sz="1500" dirty="0"/>
          </a:p>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4. A judge speaks into the mic → REAL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BUILT TO BE TRUSTED</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Safety, privacy and testing</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1737360"/>
            <a:ext cx="3566160" cy="4297680"/>
          </a:xfrm>
          <a:prstGeom prst="roundRect">
            <a:avLst>
              <a:gd name="adj" fmla="val 4615"/>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1901952"/>
            <a:ext cx="310896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Safety</a:t>
            </a:r>
            <a:endParaRPr lang="en-US" sz="1800" dirty="0"/>
          </a:p>
        </p:txBody>
      </p:sp>
      <p:sp>
        <p:nvSpPr>
          <p:cNvPr id="7" name="Text 5"/>
          <p:cNvSpPr/>
          <p:nvPr/>
        </p:nvSpPr>
        <p:spPr>
          <a:xfrm>
            <a:off x="777240" y="2377440"/>
            <a:ext cx="3108960" cy="3520440"/>
          </a:xfrm>
          <a:prstGeom prst="rect">
            <a:avLst/>
          </a:prstGeom>
          <a:noFill/>
          <a:ln/>
        </p:spPr>
        <p:txBody>
          <a:bodyPr wrap="square" rtlCol="0" anchor="t"/>
          <a:lstStyle/>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NOT SURE instead of guessing</a:t>
            </a:r>
            <a:endParaRPr lang="en-US" sz="1400" dirty="0"/>
          </a:p>
          <a:p>
            <a:pPr indent="0" marL="0">
              <a:spcAft>
                <a:spcPts val="400"/>
              </a:spcAft>
              <a:buNone/>
            </a:pP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Advice always says: verify by calling back</a:t>
            </a:r>
            <a:endParaRPr lang="en-US" sz="1400" dirty="0"/>
          </a:p>
          <a:p>
            <a:pPr indent="0" marL="0">
              <a:spcAft>
                <a:spcPts val="400"/>
              </a:spcAft>
              <a:buNone/>
            </a:pP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Thresholds set on a separate calibration split</a:t>
            </a:r>
            <a:endParaRPr lang="en-US" sz="1400" dirty="0"/>
          </a:p>
        </p:txBody>
      </p:sp>
      <p:sp>
        <p:nvSpPr>
          <p:cNvPr id="8" name="Shape 6"/>
          <p:cNvSpPr/>
          <p:nvPr/>
        </p:nvSpPr>
        <p:spPr>
          <a:xfrm>
            <a:off x="4297680" y="1737360"/>
            <a:ext cx="3566160" cy="4297680"/>
          </a:xfrm>
          <a:prstGeom prst="roundRect">
            <a:avLst>
              <a:gd name="adj" fmla="val 4615"/>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9" name="Text 7"/>
          <p:cNvSpPr/>
          <p:nvPr/>
        </p:nvSpPr>
        <p:spPr>
          <a:xfrm>
            <a:off x="4526280" y="1901952"/>
            <a:ext cx="310896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Privacy</a:t>
            </a:r>
            <a:endParaRPr lang="en-US" sz="1800" dirty="0"/>
          </a:p>
        </p:txBody>
      </p:sp>
      <p:sp>
        <p:nvSpPr>
          <p:cNvPr id="10" name="Text 8"/>
          <p:cNvSpPr/>
          <p:nvPr/>
        </p:nvSpPr>
        <p:spPr>
          <a:xfrm>
            <a:off x="4526280" y="2377440"/>
            <a:ext cx="3108960" cy="3520440"/>
          </a:xfrm>
          <a:prstGeom prst="rect">
            <a:avLst/>
          </a:prstGeom>
          <a:noFill/>
          <a:ln/>
        </p:spPr>
        <p:txBody>
          <a:bodyPr wrap="square" rtlCol="0" anchor="t"/>
          <a:lstStyle/>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Audio analysed in memory, never stored</a:t>
            </a:r>
            <a:endParaRPr lang="en-US" sz="1400" dirty="0"/>
          </a:p>
          <a:p>
            <a:pPr indent="0" marL="0">
              <a:spcAft>
                <a:spcPts val="400"/>
              </a:spcAft>
              <a:buNone/>
            </a:pP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No audio in logs</a:t>
            </a:r>
            <a:endParaRPr lang="en-US" sz="1400" dirty="0"/>
          </a:p>
          <a:p>
            <a:pPr indent="0" marL="0">
              <a:spcAft>
                <a:spcPts val="400"/>
              </a:spcAft>
              <a:buNone/>
            </a:pP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Every cloned voice belongs to a consenting team member</a:t>
            </a:r>
            <a:endParaRPr lang="en-US" sz="1400" dirty="0"/>
          </a:p>
        </p:txBody>
      </p:sp>
      <p:sp>
        <p:nvSpPr>
          <p:cNvPr id="11" name="Shape 9"/>
          <p:cNvSpPr/>
          <p:nvPr/>
        </p:nvSpPr>
        <p:spPr>
          <a:xfrm>
            <a:off x="8046720" y="1737360"/>
            <a:ext cx="3566160" cy="4297680"/>
          </a:xfrm>
          <a:prstGeom prst="roundRect">
            <a:avLst>
              <a:gd name="adj" fmla="val 4615"/>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2" name="Text 10"/>
          <p:cNvSpPr/>
          <p:nvPr/>
        </p:nvSpPr>
        <p:spPr>
          <a:xfrm>
            <a:off x="8275320" y="1901952"/>
            <a:ext cx="310896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Tested</a:t>
            </a:r>
            <a:endParaRPr lang="en-US" sz="1800" dirty="0"/>
          </a:p>
        </p:txBody>
      </p:sp>
      <p:sp>
        <p:nvSpPr>
          <p:cNvPr id="13" name="Text 11"/>
          <p:cNvSpPr/>
          <p:nvPr/>
        </p:nvSpPr>
        <p:spPr>
          <a:xfrm>
            <a:off x="8275320" y="2377440"/>
            <a:ext cx="3108960" cy="3520440"/>
          </a:xfrm>
          <a:prstGeom prst="rect">
            <a:avLst/>
          </a:prstGeom>
          <a:noFill/>
          <a:ln/>
        </p:spPr>
        <p:txBody>
          <a:bodyPr wrap="square" rtlCol="0" anchor="t"/>
          <a:lstStyle/>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53 unit, API, streaming and security tests: all pass</a:t>
            </a:r>
            <a:endParaRPr lang="en-US" sz="1400" dirty="0"/>
          </a:p>
          <a:p>
            <a:pPr indent="0" marL="0">
              <a:spcAft>
                <a:spcPts val="400"/>
              </a:spcAft>
              <a:buNone/>
            </a:pP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Browser end-to-end: 13/13</a:t>
            </a:r>
            <a:endParaRPr lang="en-US" sz="1400" dirty="0"/>
          </a:p>
          <a:p>
            <a:pPr indent="0" marL="0">
              <a:spcAft>
                <a:spcPts val="400"/>
              </a:spcAft>
              <a:buNone/>
            </a:pP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Semgrep (226 rules) and Bandit: 0 open findings</a:t>
            </a:r>
            <a:endParaRPr lang="en-US" sz="1400" dirty="0"/>
          </a:p>
          <a:p>
            <a:pPr indent="0" marL="0">
              <a:spcAft>
                <a:spcPts val="400"/>
              </a:spcAft>
              <a:buNone/>
            </a:pPr>
            <a:endParaRPr lang="en-US" sz="1400" dirty="0"/>
          </a:p>
          <a:p>
            <a:pPr indent="0" marL="0">
              <a:spcAft>
                <a:spcPts val="400"/>
              </a:spcAft>
              <a:buNone/>
            </a:pPr>
            <a:r>
              <a:rPr lang="en-US" sz="1400" dirty="0">
                <a:solidFill>
                  <a:srgbClr val="526270"/>
                </a:solidFill>
                <a:latin typeface="Segoe UI" pitchFamily="34" charset="0"/>
                <a:ea typeface="Segoe UI" pitchFamily="34" charset="-122"/>
                <a:cs typeface="Segoe UI" pitchFamily="34" charset="-120"/>
              </a:rPr>
              <a:t>Upload caps, decode timeout, origin-checked WebSocket, strict CSP</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4E9EE"/>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rtlCol="0" anchor="ctr"/>
          <a:lstStyle/>
          <a:p>
            <a:pPr indent="0" marL="0">
              <a:buNone/>
            </a:pPr>
            <a:r>
              <a:rPr lang="en-US" sz="1200" b="1" spc="300" kern="0" dirty="0">
                <a:solidFill>
                  <a:srgbClr val="0F6B58"/>
                </a:solidFill>
                <a:latin typeface="Segoe UI" pitchFamily="34" charset="0"/>
                <a:ea typeface="Segoe UI" pitchFamily="34" charset="-122"/>
                <a:cs typeface="Segoe UI" pitchFamily="34" charset="-120"/>
              </a:rPr>
              <a:t>IMPACT</a:t>
            </a:r>
            <a:endParaRPr lang="en-US" sz="1200" dirty="0"/>
          </a:p>
        </p:txBody>
      </p:sp>
      <p:sp>
        <p:nvSpPr>
          <p:cNvPr id="3" name="Text 1"/>
          <p:cNvSpPr/>
          <p:nvPr/>
        </p:nvSpPr>
        <p:spPr>
          <a:xfrm>
            <a:off x="548640" y="621792"/>
            <a:ext cx="11064240" cy="777240"/>
          </a:xfrm>
          <a:prstGeom prst="rect">
            <a:avLst/>
          </a:prstGeom>
          <a:noFill/>
          <a:ln/>
        </p:spPr>
        <p:txBody>
          <a:bodyPr wrap="square" rtlCol="0" anchor="ctr"/>
          <a:lstStyle/>
          <a:p>
            <a:pPr indent="0" marL="0">
              <a:buNone/>
            </a:pPr>
            <a:r>
              <a:rPr lang="en-US" sz="3200" dirty="0">
                <a:solidFill>
                  <a:srgbClr val="1E2A33"/>
                </a:solidFill>
                <a:latin typeface="Segoe UI Semibold" pitchFamily="34" charset="0"/>
                <a:ea typeface="Segoe UI Semibold" pitchFamily="34" charset="-122"/>
                <a:cs typeface="Segoe UI Semibold" pitchFamily="34" charset="-120"/>
              </a:rPr>
              <a:t>Where Kavach goes next</a:t>
            </a:r>
            <a:endParaRPr lang="en-US" sz="3200" dirty="0"/>
          </a:p>
        </p:txBody>
      </p:sp>
      <p:sp>
        <p:nvSpPr>
          <p:cNvPr id="4" name="Text 2"/>
          <p:cNvSpPr/>
          <p:nvPr/>
        </p:nvSpPr>
        <p:spPr>
          <a:xfrm>
            <a:off x="8503920" y="6446520"/>
            <a:ext cx="3474720" cy="274320"/>
          </a:xfrm>
          <a:prstGeom prst="rect">
            <a:avLst/>
          </a:prstGeom>
          <a:noFill/>
          <a:ln/>
        </p:spPr>
        <p:txBody>
          <a:bodyPr wrap="square" rtlCol="0" anchor="ctr"/>
          <a:lstStyle/>
          <a:p>
            <a:pPr algn="r" indent="0" marL="0">
              <a:buNone/>
            </a:pPr>
            <a:r>
              <a:rPr lang="en-US" sz="900" dirty="0">
                <a:solidFill>
                  <a:srgbClr val="526270"/>
                </a:solidFill>
                <a:latin typeface="Segoe UI" pitchFamily="34" charset="0"/>
                <a:ea typeface="Segoe UI" pitchFamily="34" charset="-122"/>
                <a:cs typeface="Segoe UI" pitchFamily="34" charset="-120"/>
              </a:rPr>
              <a:t>Kavach · HYPNEXIS'26 · AI-01</a:t>
            </a:r>
            <a:endParaRPr lang="en-US" sz="900" dirty="0"/>
          </a:p>
        </p:txBody>
      </p:sp>
      <p:sp>
        <p:nvSpPr>
          <p:cNvPr id="5" name="Shape 3"/>
          <p:cNvSpPr/>
          <p:nvPr/>
        </p:nvSpPr>
        <p:spPr>
          <a:xfrm>
            <a:off x="548640" y="1737360"/>
            <a:ext cx="544068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6" name="Text 4"/>
          <p:cNvSpPr/>
          <p:nvPr/>
        </p:nvSpPr>
        <p:spPr>
          <a:xfrm>
            <a:off x="777240" y="1901952"/>
            <a:ext cx="498348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Banks and call centres</a:t>
            </a:r>
            <a:endParaRPr lang="en-US" sz="1800" dirty="0"/>
          </a:p>
        </p:txBody>
      </p:sp>
      <p:sp>
        <p:nvSpPr>
          <p:cNvPr id="7" name="Text 5"/>
          <p:cNvSpPr/>
          <p:nvPr/>
        </p:nvSpPr>
        <p:spPr>
          <a:xfrm>
            <a:off x="777240" y="2377440"/>
            <a:ext cx="4983480" cy="123444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Flag cloned voices impersonating customers.</a:t>
            </a:r>
            <a:endParaRPr lang="en-US" sz="1500" dirty="0"/>
          </a:p>
        </p:txBody>
      </p:sp>
      <p:sp>
        <p:nvSpPr>
          <p:cNvPr id="8" name="Shape 6"/>
          <p:cNvSpPr/>
          <p:nvPr/>
        </p:nvSpPr>
        <p:spPr>
          <a:xfrm>
            <a:off x="6172200" y="1737360"/>
            <a:ext cx="544068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9" name="Text 7"/>
          <p:cNvSpPr/>
          <p:nvPr/>
        </p:nvSpPr>
        <p:spPr>
          <a:xfrm>
            <a:off x="6400800" y="1901952"/>
            <a:ext cx="498348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Telecom networks</a:t>
            </a:r>
            <a:endParaRPr lang="en-US" sz="1800" dirty="0"/>
          </a:p>
        </p:txBody>
      </p:sp>
      <p:sp>
        <p:nvSpPr>
          <p:cNvPr id="10" name="Text 8"/>
          <p:cNvSpPr/>
          <p:nvPr/>
        </p:nvSpPr>
        <p:spPr>
          <a:xfrm>
            <a:off x="6400800" y="2377440"/>
            <a:ext cx="4983480" cy="123444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Warn on suspicious calls at network level.</a:t>
            </a:r>
            <a:endParaRPr lang="en-US" sz="1500" dirty="0"/>
          </a:p>
        </p:txBody>
      </p:sp>
      <p:sp>
        <p:nvSpPr>
          <p:cNvPr id="11" name="Shape 9"/>
          <p:cNvSpPr/>
          <p:nvPr/>
        </p:nvSpPr>
        <p:spPr>
          <a:xfrm>
            <a:off x="548640" y="3977640"/>
            <a:ext cx="544068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2" name="Text 10"/>
          <p:cNvSpPr/>
          <p:nvPr/>
        </p:nvSpPr>
        <p:spPr>
          <a:xfrm>
            <a:off x="777240" y="4142232"/>
            <a:ext cx="4983480" cy="457200"/>
          </a:xfrm>
          <a:prstGeom prst="rect">
            <a:avLst/>
          </a:prstGeom>
          <a:noFill/>
          <a:ln/>
        </p:spPr>
        <p:txBody>
          <a:bodyPr wrap="square" rtlCol="0" anchor="t"/>
          <a:lstStyle/>
          <a:p>
            <a:pPr indent="0" marL="0">
              <a:buNone/>
            </a:pPr>
            <a:r>
              <a:rPr lang="en-US" sz="1800" dirty="0">
                <a:solidFill>
                  <a:srgbClr val="1E2A33"/>
                </a:solidFill>
                <a:latin typeface="Segoe UI Semibold" pitchFamily="34" charset="0"/>
                <a:ea typeface="Segoe UI Semibold" pitchFamily="34" charset="-122"/>
                <a:cs typeface="Segoe UI Semibold" pitchFamily="34" charset="-120"/>
              </a:rPr>
              <a:t>Families</a:t>
            </a:r>
            <a:endParaRPr lang="en-US" sz="1800" dirty="0"/>
          </a:p>
        </p:txBody>
      </p:sp>
      <p:sp>
        <p:nvSpPr>
          <p:cNvPr id="13" name="Text 11"/>
          <p:cNvSpPr/>
          <p:nvPr/>
        </p:nvSpPr>
        <p:spPr>
          <a:xfrm>
            <a:off x="777240" y="4617720"/>
            <a:ext cx="4983480" cy="123444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Phone app, or a ₹1,300 Bluetooth guard for parents (apps cannot read call audio).</a:t>
            </a:r>
            <a:endParaRPr lang="en-US" sz="1500" dirty="0"/>
          </a:p>
        </p:txBody>
      </p:sp>
      <p:sp>
        <p:nvSpPr>
          <p:cNvPr id="14" name="Shape 12"/>
          <p:cNvSpPr/>
          <p:nvPr/>
        </p:nvSpPr>
        <p:spPr>
          <a:xfrm>
            <a:off x="6172200" y="3977640"/>
            <a:ext cx="5440680" cy="2011680"/>
          </a:xfrm>
          <a:prstGeom prst="roundRect">
            <a:avLst>
              <a:gd name="adj" fmla="val 8182"/>
            </a:avLst>
          </a:prstGeom>
          <a:solidFill>
            <a:srgbClr val="EEF2F6"/>
          </a:solidFill>
          <a:ln w="12700">
            <a:solidFill>
              <a:srgbClr val="EEF2F6"/>
            </a:solidFill>
            <a:prstDash val="solid"/>
          </a:ln>
          <a:effectLst>
            <a:outerShdw sx="100000" sy="100000" kx="0" ky="0" algn="bl" rotWithShape="0" blurRad="177800" dist="63500" dir="2700000">
              <a:srgbClr val="A9B3BE">
                <a:alpha val="55000"/>
              </a:srgbClr>
            </a:outerShdw>
          </a:effectLst>
        </p:spPr>
      </p:sp>
      <p:sp>
        <p:nvSpPr>
          <p:cNvPr id="15" name="Text 13"/>
          <p:cNvSpPr/>
          <p:nvPr/>
        </p:nvSpPr>
        <p:spPr>
          <a:xfrm>
            <a:off x="6400800" y="4142232"/>
            <a:ext cx="4983480" cy="457200"/>
          </a:xfrm>
          <a:prstGeom prst="rect">
            <a:avLst/>
          </a:prstGeom>
          <a:noFill/>
          <a:ln/>
        </p:spPr>
        <p:txBody>
          <a:bodyPr wrap="square" rtlCol="0" anchor="t"/>
          <a:lstStyle/>
          <a:p>
            <a:pPr indent="0" marL="0">
              <a:buNone/>
            </a:pPr>
            <a:r>
              <a:rPr lang="en-US" sz="1800" dirty="0">
                <a:solidFill>
                  <a:srgbClr val="0F6B58"/>
                </a:solidFill>
                <a:latin typeface="Segoe UI Semibold" pitchFamily="34" charset="0"/>
                <a:ea typeface="Segoe UI Semibold" pitchFamily="34" charset="-122"/>
                <a:cs typeface="Segoe UI Semibold" pitchFamily="34" charset="-120"/>
              </a:rPr>
              <a:t>Next</a:t>
            </a:r>
            <a:endParaRPr lang="en-US" sz="1800" dirty="0"/>
          </a:p>
        </p:txBody>
      </p:sp>
      <p:sp>
        <p:nvSpPr>
          <p:cNvPr id="16" name="Text 14"/>
          <p:cNvSpPr/>
          <p:nvPr/>
        </p:nvSpPr>
        <p:spPr>
          <a:xfrm>
            <a:off x="6400800" y="4617720"/>
            <a:ext cx="4983480" cy="1234440"/>
          </a:xfrm>
          <a:prstGeom prst="rect">
            <a:avLst/>
          </a:prstGeom>
          <a:noFill/>
          <a:ln/>
        </p:spPr>
        <p:txBody>
          <a:bodyPr wrap="square" rtlCol="0" anchor="t"/>
          <a:lstStyle/>
          <a:p>
            <a:pPr indent="0" marL="0">
              <a:spcAft>
                <a:spcPts val="400"/>
              </a:spcAft>
              <a:buNone/>
            </a:pPr>
            <a:r>
              <a:rPr lang="en-US" sz="1500" dirty="0">
                <a:solidFill>
                  <a:srgbClr val="526270"/>
                </a:solidFill>
                <a:latin typeface="Segoe UI" pitchFamily="34" charset="0"/>
                <a:ea typeface="Segoe UI" pitchFamily="34" charset="-122"/>
                <a:cs typeface="Segoe UI" pitchFamily="34" charset="-120"/>
              </a:rPr>
              <a:t>Live call mode, more Indian languages, combine with scam-phrase detection.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Kavach</dc:title>
  <dc:subject>PptxGenJS Presentation</dc:subject>
  <dc:creator>PptxGenJS</dc:creator>
  <cp:lastModifiedBy>PptxGenJS</cp:lastModifiedBy>
  <cp:revision>1</cp:revision>
  <dcterms:created xsi:type="dcterms:W3CDTF">2026-10-24T15:52:15Z</dcterms:created>
  <dcterms:modified xsi:type="dcterms:W3CDTF">2026-10-24T15:52:15Z</dcterms:modified>
</cp:coreProperties>
</file>